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8288000" cy="10287000"/>
  <p:notesSz cx="6858000" cy="9144000"/>
  <p:embeddedFontLst>
    <p:embeddedFont>
      <p:font typeface="Aptos Bold" panose="020B0004020202020204"/>
      <p:bold r:id="rId28"/>
    </p:embeddedFont>
    <p:embeddedFont>
      <p:font typeface="Aptos" panose="020B0004020202020204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  <p:embeddedFont>
      <p:font typeface="Calibri (MS)" panose="020F0502020204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CHEM 13 — ASYNCHRONOUS ACTIVITY NO. 3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03244" y="695077"/>
            <a:ext cx="17250061" cy="192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NAME IT, DRAW IT • Two-Way IUPAC Nomenclature</a:t>
            </a:r>
            <a:endParaRPr lang="en-US" sz="13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64116" y="2241994"/>
            <a:ext cx="15328316" cy="86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90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20-CARD DIGITAL NAMING PORTFOLIO</a:t>
            </a:r>
            <a:endParaRPr lang="en-US" sz="3905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50450" y="3477397"/>
            <a:ext cx="13955649" cy="128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232B34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Part A: Structure → Name (A01–A10)</a:t>
            </a:r>
            <a:endParaRPr lang="en-US" sz="3000" b="1">
              <a:solidFill>
                <a:srgbClr val="232B34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232B34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Part B: Name → Structure (B01–B10)</a:t>
            </a:r>
            <a:endParaRPr lang="en-US" sz="3000" b="1">
              <a:solidFill>
                <a:srgbClr val="232B34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464116" y="5453763"/>
            <a:ext cx="15860567" cy="2404002"/>
            <a:chOff x="0" y="0"/>
            <a:chExt cx="21147423" cy="3205336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21147423" cy="3205336"/>
              <a:chOff x="0" y="0"/>
              <a:chExt cx="17040200" cy="258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040225" cy="2582813"/>
              </a:xfrm>
              <a:custGeom>
                <a:avLst/>
                <a:gdLst/>
                <a:ahLst/>
                <a:cxnLst/>
                <a:rect l="l" t="t" r="r" b="b"/>
                <a:pathLst>
                  <a:path w="17040225" h="2582813">
                    <a:moveTo>
                      <a:pt x="0" y="430511"/>
                    </a:moveTo>
                    <a:cubicBezTo>
                      <a:pt x="0" y="192764"/>
                      <a:pt x="192659" y="0"/>
                      <a:pt x="430276" y="0"/>
                    </a:cubicBezTo>
                    <a:lnTo>
                      <a:pt x="16609949" y="0"/>
                    </a:lnTo>
                    <a:cubicBezTo>
                      <a:pt x="16847565" y="0"/>
                      <a:pt x="17040225" y="192764"/>
                      <a:pt x="17040225" y="430511"/>
                    </a:cubicBezTo>
                    <a:lnTo>
                      <a:pt x="17040225" y="2152302"/>
                    </a:lnTo>
                    <a:cubicBezTo>
                      <a:pt x="17040225" y="2390049"/>
                      <a:pt x="16847565" y="2582813"/>
                      <a:pt x="16609949" y="2582813"/>
                    </a:cubicBezTo>
                    <a:lnTo>
                      <a:pt x="430276" y="2582813"/>
                    </a:lnTo>
                    <a:cubicBezTo>
                      <a:pt x="192659" y="2582813"/>
                      <a:pt x="0" y="2390049"/>
                      <a:pt x="0" y="2152302"/>
                    </a:cubicBezTo>
                    <a:close/>
                  </a:path>
                </a:pathLst>
              </a:custGeom>
              <a:solidFill>
                <a:srgbClr val="EDF3FA"/>
              </a:solidFill>
              <a:ln w="14299" cap="sq">
                <a:solidFill>
                  <a:srgbClr val="D2DCE6"/>
                </a:solidFill>
                <a:prstDash val="solid"/>
                <a:miter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571970" y="996038"/>
              <a:ext cx="20003467" cy="1562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30"/>
                </a:lnSpc>
              </a:pPr>
              <a:r>
                <a:rPr lang="en-US" sz="2610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Name: </a:t>
              </a:r>
              <a:r>
                <a:rPr lang="en-US" sz="2610">
                  <a:solidFill>
                    <a:srgbClr val="232B34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_Vhea Franz B. Aloba_____________________________</a:t>
              </a:r>
              <a:endParaRPr lang="en-US" sz="261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  <a:p>
              <a:pPr algn="l">
                <a:lnSpc>
                  <a:spcPts val="3130"/>
                </a:lnSpc>
              </a:pPr>
              <a:r>
                <a:rPr lang="en-US" sz="2610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Course/Section:</a:t>
              </a:r>
              <a:r>
                <a:rPr lang="en-US" sz="2610">
                  <a:solidFill>
                    <a:srgbClr val="232B34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 _BSChE 3B_____________________</a:t>
              </a:r>
              <a:endParaRPr lang="en-US" sz="261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  <a:p>
              <a:pPr algn="l">
                <a:lnSpc>
                  <a:spcPts val="3130"/>
                </a:lnSpc>
              </a:pPr>
              <a:r>
                <a:rPr lang="en-US" sz="2610">
                  <a:solidFill>
                    <a:srgbClr val="232B34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I</a:t>
              </a:r>
              <a:r>
                <a:rPr lang="en-US" sz="2610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nstructor: </a:t>
              </a:r>
              <a:r>
                <a:rPr lang="en-US" sz="2610">
                  <a:solidFill>
                    <a:srgbClr val="232B34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__Engr. John Raymond Barajas________________________</a:t>
              </a:r>
              <a:endParaRPr lang="en-US" sz="261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41993" y="5655663"/>
            <a:ext cx="15104803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06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STUDENT DETAILS</a:t>
            </a:r>
            <a:endParaRPr lang="en-US" sz="2065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A01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99201" y="704602"/>
            <a:ext cx="4458146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FOUNDATION  •  FORMULA COUNTED: C₆H₁₄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29523" y="2320995"/>
            <a:ext cx="7833531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</a:t>
            </a:r>
            <a:r>
              <a:rPr lang="en-US" sz="1950" b="1">
                <a:solidFill>
                  <a:srgbClr val="232B34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5 carbon atoms → pentane.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methyl locant 2 vs 4; choose 2.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ubstituent: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one methyl group at C2.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747817" y="5346278"/>
            <a:ext cx="7975797" cy="3377346"/>
            <a:chOff x="0" y="0"/>
            <a:chExt cx="10634396" cy="45031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34345" cy="4503179"/>
            </a:xfrm>
            <a:custGeom>
              <a:avLst/>
              <a:gdLst/>
              <a:ahLst/>
              <a:cxnLst/>
              <a:rect l="l" t="t" r="r" b="b"/>
              <a:pathLst>
                <a:path w="10634345" h="4503179">
                  <a:moveTo>
                    <a:pt x="0" y="750535"/>
                  </a:moveTo>
                  <a:cubicBezTo>
                    <a:pt x="0" y="336018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36018"/>
                    <a:pt x="10634345" y="750535"/>
                  </a:cubicBezTo>
                  <a:lnTo>
                    <a:pt x="10634345" y="3752673"/>
                  </a:lnTo>
                  <a:cubicBezTo>
                    <a:pt x="10634345" y="4167189"/>
                    <a:pt x="10421239" y="4503179"/>
                    <a:pt x="10158349" y="4503179"/>
                  </a:cubicBezTo>
                  <a:lnTo>
                    <a:pt x="475996" y="4503179"/>
                  </a:lnTo>
                  <a:cubicBezTo>
                    <a:pt x="213106" y="4503179"/>
                    <a:pt x="0" y="4167190"/>
                    <a:pt x="0" y="3752673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93494" y="6752390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2-methylpentane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907190" y="2177065"/>
            <a:ext cx="5562520" cy="2036840"/>
            <a:chOff x="0" y="0"/>
            <a:chExt cx="2497187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97187" cy="914400"/>
            </a:xfrm>
            <a:custGeom>
              <a:avLst/>
              <a:gdLst/>
              <a:ahLst/>
              <a:cxnLst/>
              <a:rect l="l" t="t" r="r" b="b"/>
              <a:pathLst>
                <a:path w="2497187" h="914400">
                  <a:moveTo>
                    <a:pt x="0" y="0"/>
                  </a:moveTo>
                  <a:lnTo>
                    <a:pt x="2497187" y="0"/>
                  </a:lnTo>
                  <a:lnTo>
                    <a:pt x="249718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1242" b="-21242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7040578" y="4066267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708987" y="3649732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437528" y="4213905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362480" y="3162852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112845" y="4213905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5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0112" y="9371324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8983851" y="5346278"/>
            <a:ext cx="8524865" cy="3377346"/>
            <a:chOff x="0" y="0"/>
            <a:chExt cx="11366487" cy="4503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9222872" y="5586724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 rot="0">
            <a:off x="9288342" y="6262999"/>
            <a:ext cx="4910075" cy="1797933"/>
            <a:chOff x="0" y="0"/>
            <a:chExt cx="2497187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97187" cy="914400"/>
            </a:xfrm>
            <a:custGeom>
              <a:avLst/>
              <a:gdLst/>
              <a:ahLst/>
              <a:cxnLst/>
              <a:rect l="l" t="t" r="r" b="b"/>
              <a:pathLst>
                <a:path w="2497187" h="914400">
                  <a:moveTo>
                    <a:pt x="0" y="0"/>
                  </a:moveTo>
                  <a:lnTo>
                    <a:pt x="2497187" y="0"/>
                  </a:lnTo>
                  <a:lnTo>
                    <a:pt x="249718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101" b="-25101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 rot="0">
            <a:off x="14309751" y="6501124"/>
            <a:ext cx="2894476" cy="719560"/>
            <a:chOff x="0" y="0"/>
            <a:chExt cx="2657479" cy="66064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657479" cy="660643"/>
            </a:xfrm>
            <a:custGeom>
              <a:avLst/>
              <a:gdLst/>
              <a:ahLst/>
              <a:cxnLst/>
              <a:rect l="l" t="t" r="r" b="b"/>
              <a:pathLst>
                <a:path w="2657479" h="660643">
                  <a:moveTo>
                    <a:pt x="0" y="0"/>
                  </a:moveTo>
                  <a:lnTo>
                    <a:pt x="2657479" y="0"/>
                  </a:lnTo>
                  <a:lnTo>
                    <a:pt x="2657479" y="660643"/>
                  </a:lnTo>
                  <a:lnTo>
                    <a:pt x="0" y="66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434" b="-27434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5174777" y="7358801"/>
            <a:ext cx="116442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 rot="0">
            <a:off x="747817" y="5346278"/>
            <a:ext cx="7975797" cy="3298584"/>
            <a:chOff x="0" y="0"/>
            <a:chExt cx="10634396" cy="43981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4345" cy="4398162"/>
            </a:xfrm>
            <a:custGeom>
              <a:avLst/>
              <a:gdLst/>
              <a:ahLst/>
              <a:cxnLst/>
              <a:rect l="l" t="t" r="r" b="b"/>
              <a:pathLst>
                <a:path w="10634345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28182"/>
                    <a:pt x="10634345" y="733032"/>
                  </a:cubicBezTo>
                  <a:lnTo>
                    <a:pt x="10634345" y="3665158"/>
                  </a:lnTo>
                  <a:cubicBezTo>
                    <a:pt x="10634345" y="4070007"/>
                    <a:pt x="10421239" y="4398162"/>
                    <a:pt x="10158349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 rot="0">
            <a:off x="2251999" y="1862690"/>
            <a:ext cx="4447816" cy="2868519"/>
            <a:chOff x="0" y="0"/>
            <a:chExt cx="1752600" cy="1130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52600" cy="1130300"/>
            </a:xfrm>
            <a:custGeom>
              <a:avLst/>
              <a:gdLst/>
              <a:ahLst/>
              <a:cxnLst/>
              <a:rect l="l" t="t" r="r" b="b"/>
              <a:pathLst>
                <a:path w="1752600" h="1130300">
                  <a:moveTo>
                    <a:pt x="0" y="0"/>
                  </a:moveTo>
                  <a:lnTo>
                    <a:pt x="1752600" y="0"/>
                  </a:lnTo>
                  <a:lnTo>
                    <a:pt x="17526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A02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99201" y="704602"/>
            <a:ext cx="4458146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FOUNDATION  •  FORMULA COUNTED: C₇H₁₆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329518" y="2263487"/>
            <a:ext cx="783353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P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arent: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6 carbon atoms → hexane.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one direction places the methyl group at C3; the opposite direction places it at C4. Choose C3.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one methyl group at C3.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34675" y="6566230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3-methylhexane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84924" y="9368761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78710" y="1991277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47119" y="2600877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626870" y="352114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326811" y="4435934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266810" y="352114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5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401623" y="4330412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6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26" name="Group 26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grpSp>
          <p:nvGrpSpPr>
            <p:cNvPr id="27" name="Group 27"/>
            <p:cNvGrpSpPr/>
            <p:nvPr/>
          </p:nvGrpSpPr>
          <p:grpSpPr>
            <a:xfrm rot="0">
              <a:off x="0" y="0"/>
              <a:ext cx="11366487" cy="4398111"/>
              <a:chOff x="0" y="0"/>
              <a:chExt cx="11366487" cy="439811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366500" cy="4398162"/>
              </a:xfrm>
              <a:custGeom>
                <a:avLst/>
                <a:gdLst/>
                <a:ahLst/>
                <a:cxnLst/>
                <a:rect l="l" t="t" r="r" b="b"/>
                <a:pathLst>
                  <a:path w="11366500" h="4398162">
                    <a:moveTo>
                      <a:pt x="0" y="733032"/>
                    </a:moveTo>
                    <a:cubicBezTo>
                      <a:pt x="0" y="328182"/>
                      <a:pt x="213106" y="0"/>
                      <a:pt x="475996" y="0"/>
                    </a:cubicBezTo>
                    <a:lnTo>
                      <a:pt x="10890504" y="0"/>
                    </a:lnTo>
                    <a:cubicBezTo>
                      <a:pt x="11153394" y="0"/>
                      <a:pt x="11366500" y="328182"/>
                      <a:pt x="11366500" y="733032"/>
                    </a:cubicBezTo>
                    <a:lnTo>
                      <a:pt x="11366500" y="3665158"/>
                    </a:lnTo>
                    <a:cubicBezTo>
                      <a:pt x="11366500" y="4070007"/>
                      <a:pt x="11153394" y="4398162"/>
                      <a:pt x="10890504" y="4398162"/>
                    </a:cubicBezTo>
                    <a:lnTo>
                      <a:pt x="475996" y="4398162"/>
                    </a:lnTo>
                    <a:cubicBezTo>
                      <a:pt x="213106" y="4398162"/>
                      <a:pt x="0" y="4070007"/>
                      <a:pt x="0" y="3665158"/>
                    </a:cubicBezTo>
                    <a:close/>
                  </a:path>
                </a:pathLst>
              </a:custGeom>
              <a:solidFill>
                <a:srgbClr val="EDF3FA"/>
              </a:solidFill>
              <a:ln w="14299" cap="sq">
                <a:solidFill>
                  <a:srgbClr val="D2DCE6"/>
                </a:solidFill>
                <a:prstDash val="solid"/>
                <a:miter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405981" y="207378"/>
              <a:ext cx="10554513" cy="352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THE ALKANE CHECK </a:t>
              </a:r>
              <a:endPara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  <p:grpSp>
          <p:nvGrpSpPr>
            <p:cNvPr id="30" name="Group 30"/>
            <p:cNvGrpSpPr/>
            <p:nvPr/>
          </p:nvGrpSpPr>
          <p:grpSpPr>
            <a:xfrm rot="0">
              <a:off x="1569581" y="750303"/>
              <a:ext cx="4560995" cy="2941512"/>
              <a:chOff x="0" y="0"/>
              <a:chExt cx="1752600" cy="11303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752600" cy="1130300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1130300">
                    <a:moveTo>
                      <a:pt x="0" y="0"/>
                    </a:moveTo>
                    <a:lnTo>
                      <a:pt x="1752600" y="0"/>
                    </a:lnTo>
                    <a:lnTo>
                      <a:pt x="1752600" y="1130300"/>
                    </a:lnTo>
                    <a:lnTo>
                      <a:pt x="0" y="1130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7173" b="-7173"/>
                </a:stretch>
              </a:blipFill>
            </p:spPr>
          </p:sp>
        </p:grpSp>
        <p:grpSp>
          <p:nvGrpSpPr>
            <p:cNvPr id="32" name="Group 32"/>
            <p:cNvGrpSpPr/>
            <p:nvPr/>
          </p:nvGrpSpPr>
          <p:grpSpPr>
            <a:xfrm rot="0">
              <a:off x="6663378" y="1146897"/>
              <a:ext cx="3859301" cy="959413"/>
              <a:chOff x="0" y="0"/>
              <a:chExt cx="2657479" cy="66064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657479" cy="660643"/>
              </a:xfrm>
              <a:custGeom>
                <a:avLst/>
                <a:gdLst/>
                <a:ahLst/>
                <a:cxnLst/>
                <a:rect l="l" t="t" r="r" b="b"/>
                <a:pathLst>
                  <a:path w="2657479" h="660643">
                    <a:moveTo>
                      <a:pt x="0" y="0"/>
                    </a:moveTo>
                    <a:lnTo>
                      <a:pt x="2657479" y="0"/>
                    </a:lnTo>
                    <a:lnTo>
                      <a:pt x="2657479" y="660643"/>
                    </a:lnTo>
                    <a:lnTo>
                      <a:pt x="0" y="6606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3491" b="-3491"/>
                </a:stretch>
              </a:blipFill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213692" y="2474610"/>
              <a:ext cx="2758674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735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MATCH ✓</a:t>
              </a:r>
              <a:endParaRPr lang="en-US" sz="173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346278"/>
            <a:ext cx="7975797" cy="3298584"/>
            <a:chOff x="0" y="0"/>
            <a:chExt cx="10634396" cy="43981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345" cy="4398162"/>
            </a:xfrm>
            <a:custGeom>
              <a:avLst/>
              <a:gdLst/>
              <a:ahLst/>
              <a:cxnLst/>
              <a:rect l="l" t="t" r="r" b="b"/>
              <a:pathLst>
                <a:path w="10634345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28182"/>
                    <a:pt x="10634345" y="733032"/>
                  </a:cubicBezTo>
                  <a:lnTo>
                    <a:pt x="10634345" y="3665158"/>
                  </a:lnTo>
                  <a:cubicBezTo>
                    <a:pt x="10634345" y="4070007"/>
                    <a:pt x="10421239" y="4398162"/>
                    <a:pt x="10158349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4398162"/>
            </a:xfrm>
            <a:custGeom>
              <a:avLst/>
              <a:gdLst/>
              <a:ahLst/>
              <a:cxnLst/>
              <a:rect l="l" t="t" r="r" b="b"/>
              <a:pathLst>
                <a:path w="11366500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328182"/>
                    <a:pt x="11366500" y="733032"/>
                  </a:cubicBezTo>
                  <a:lnTo>
                    <a:pt x="11366500" y="3665158"/>
                  </a:lnTo>
                  <a:cubicBezTo>
                    <a:pt x="11366500" y="4070007"/>
                    <a:pt x="11153394" y="4398162"/>
                    <a:pt x="10890504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2809802" y="2090381"/>
            <a:ext cx="3144153" cy="2551047"/>
            <a:chOff x="0" y="0"/>
            <a:chExt cx="1643532" cy="1333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3532" cy="1333500"/>
            </a:xfrm>
            <a:custGeom>
              <a:avLst/>
              <a:gdLst/>
              <a:ahLst/>
              <a:cxnLst/>
              <a:rect l="l" t="t" r="r" b="b"/>
              <a:pathLst>
                <a:path w="1643532" h="1333500">
                  <a:moveTo>
                    <a:pt x="0" y="0"/>
                  </a:moveTo>
                  <a:lnTo>
                    <a:pt x="1643532" y="0"/>
                  </a:lnTo>
                  <a:lnTo>
                    <a:pt x="1643532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9363" b="-936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102141" y="5828012"/>
            <a:ext cx="3144153" cy="2551047"/>
            <a:chOff x="0" y="0"/>
            <a:chExt cx="1643532" cy="1333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3532" cy="1333500"/>
            </a:xfrm>
            <a:custGeom>
              <a:avLst/>
              <a:gdLst/>
              <a:ahLst/>
              <a:cxnLst/>
              <a:rect l="l" t="t" r="r" b="b"/>
              <a:pathLst>
                <a:path w="1643532" h="1333500">
                  <a:moveTo>
                    <a:pt x="0" y="0"/>
                  </a:moveTo>
                  <a:lnTo>
                    <a:pt x="1643532" y="0"/>
                  </a:lnTo>
                  <a:lnTo>
                    <a:pt x="1643532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010" b="-1001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13855400" y="5947105"/>
            <a:ext cx="3135765" cy="1084251"/>
            <a:chOff x="0" y="0"/>
            <a:chExt cx="3856620" cy="1333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56620" cy="1333500"/>
            </a:xfrm>
            <a:custGeom>
              <a:avLst/>
              <a:gdLst/>
              <a:ahLst/>
              <a:cxnLst/>
              <a:rect l="l" t="t" r="r" b="b"/>
              <a:pathLst>
                <a:path w="3856620" h="1333500">
                  <a:moveTo>
                    <a:pt x="0" y="0"/>
                  </a:moveTo>
                  <a:lnTo>
                    <a:pt x="3856620" y="0"/>
                  </a:lnTo>
                  <a:lnTo>
                    <a:pt x="385662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296" b="-829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739886" y="7469506"/>
            <a:ext cx="136679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A03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99201" y="704602"/>
            <a:ext cx="4458146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FOUNDATION  •  FORMULA COUNTED: C₆H₁₄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29528" y="2173357"/>
            <a:ext cx="783353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4 carbon atoms → butane.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the two methyl groups receive locants 2 and 3 from either direction.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two methyl groups → dimethyl.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(WRITE BEFORE CHECKING)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6566230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2,3-dimethylbutane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43748" y="9368761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87527" y="3542506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934590" y="449379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934590" y="363654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735716" y="3162852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8983851" y="1571425"/>
            <a:ext cx="8524865" cy="3377346"/>
            <a:chOff x="0" y="0"/>
            <a:chExt cx="11366487" cy="45031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 rot="0">
            <a:off x="747817" y="5223869"/>
            <a:ext cx="7975797" cy="3377346"/>
            <a:chOff x="0" y="0"/>
            <a:chExt cx="10634396" cy="4503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4345" cy="4503179"/>
            </a:xfrm>
            <a:custGeom>
              <a:avLst/>
              <a:gdLst/>
              <a:ahLst/>
              <a:cxnLst/>
              <a:rect l="l" t="t" r="r" b="b"/>
              <a:pathLst>
                <a:path w="10634345" h="4503179">
                  <a:moveTo>
                    <a:pt x="0" y="750535"/>
                  </a:moveTo>
                  <a:cubicBezTo>
                    <a:pt x="0" y="336018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36018"/>
                    <a:pt x="10634345" y="750535"/>
                  </a:cubicBezTo>
                  <a:lnTo>
                    <a:pt x="10634345" y="3752673"/>
                  </a:lnTo>
                  <a:cubicBezTo>
                    <a:pt x="10634345" y="4167189"/>
                    <a:pt x="10421239" y="4503179"/>
                    <a:pt x="10158349" y="4503179"/>
                  </a:cubicBezTo>
                  <a:lnTo>
                    <a:pt x="475996" y="4503179"/>
                  </a:lnTo>
                  <a:cubicBezTo>
                    <a:pt x="213106" y="4503179"/>
                    <a:pt x="0" y="4167190"/>
                    <a:pt x="0" y="3752673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 rot="0">
            <a:off x="2171395" y="1991277"/>
            <a:ext cx="5128641" cy="2733228"/>
            <a:chOff x="0" y="0"/>
            <a:chExt cx="2120900" cy="1130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20900" cy="1130300"/>
            </a:xfrm>
            <a:custGeom>
              <a:avLst/>
              <a:gdLst/>
              <a:ahLst/>
              <a:cxnLst/>
              <a:rect l="l" t="t" r="r" b="b"/>
              <a:pathLst>
                <a:path w="2120900" h="1130300">
                  <a:moveTo>
                    <a:pt x="0" y="0"/>
                  </a:moveTo>
                  <a:lnTo>
                    <a:pt x="2120900" y="0"/>
                  </a:lnTo>
                  <a:lnTo>
                    <a:pt x="21209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9128274" y="5223869"/>
            <a:ext cx="8380447" cy="3377346"/>
            <a:chOff x="0" y="0"/>
            <a:chExt cx="11173930" cy="45031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74006" cy="4503166"/>
            </a:xfrm>
            <a:custGeom>
              <a:avLst/>
              <a:gdLst/>
              <a:ahLst/>
              <a:cxnLst/>
              <a:rect l="l" t="t" r="r" b="b"/>
              <a:pathLst>
                <a:path w="11174006" h="4503166">
                  <a:moveTo>
                    <a:pt x="0" y="750570"/>
                  </a:moveTo>
                  <a:cubicBezTo>
                    <a:pt x="0" y="336042"/>
                    <a:pt x="353091" y="0"/>
                    <a:pt x="788650" y="0"/>
                  </a:cubicBezTo>
                  <a:lnTo>
                    <a:pt x="10385360" y="0"/>
                  </a:lnTo>
                  <a:cubicBezTo>
                    <a:pt x="10820919" y="0"/>
                    <a:pt x="11174006" y="336042"/>
                    <a:pt x="11174006" y="750570"/>
                  </a:cubicBezTo>
                  <a:lnTo>
                    <a:pt x="11174006" y="3752596"/>
                  </a:lnTo>
                  <a:cubicBezTo>
                    <a:pt x="11174006" y="4167124"/>
                    <a:pt x="10820919" y="4503166"/>
                    <a:pt x="10385360" y="4503166"/>
                  </a:cubicBezTo>
                  <a:lnTo>
                    <a:pt x="788650" y="4503166"/>
                  </a:lnTo>
                  <a:cubicBezTo>
                    <a:pt x="353091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9441106" y="5755833"/>
            <a:ext cx="4109674" cy="2551047"/>
            <a:chOff x="0" y="0"/>
            <a:chExt cx="2148236" cy="1333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48236" cy="1333500"/>
            </a:xfrm>
            <a:custGeom>
              <a:avLst/>
              <a:gdLst/>
              <a:ahLst/>
              <a:cxnLst/>
              <a:rect l="l" t="t" r="r" b="b"/>
              <a:pathLst>
                <a:path w="2148236" h="1333500">
                  <a:moveTo>
                    <a:pt x="0" y="0"/>
                  </a:moveTo>
                  <a:lnTo>
                    <a:pt x="2148236" y="0"/>
                  </a:lnTo>
                  <a:lnTo>
                    <a:pt x="2148236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935" r="-6935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3647020" y="6179083"/>
            <a:ext cx="3612280" cy="733459"/>
            <a:chOff x="0" y="0"/>
            <a:chExt cx="6567479" cy="1333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67479" cy="1333500"/>
            </a:xfrm>
            <a:custGeom>
              <a:avLst/>
              <a:gdLst/>
              <a:ahLst/>
              <a:cxnLst/>
              <a:rect l="l" t="t" r="r" b="b"/>
              <a:pathLst>
                <a:path w="6567479" h="1333500">
                  <a:moveTo>
                    <a:pt x="0" y="0"/>
                  </a:moveTo>
                  <a:lnTo>
                    <a:pt x="6567479" y="0"/>
                  </a:lnTo>
                  <a:lnTo>
                    <a:pt x="6567479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378" b="-8378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A04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21748" y="704602"/>
            <a:ext cx="441305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FORMULA COUNTED: C₉H₂₀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29528" y="2173357"/>
            <a:ext cx="7833531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Pare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6 carbon atoms → hexane..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compare both directions and use the lowest locant set; if the locant sets tie, apply the alphabetical tie-break.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:ethyl and methyl, listed alphabetically.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0112" y="5501033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0112" y="9287014"/>
            <a:ext cx="162891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216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2171395" y="442923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592837" y="5386921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769763" y="7332205"/>
            <a:ext cx="136679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700" y="6566230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4-ethyl-2-methylhexane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250503" y="3945007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110128" y="442923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091687" y="3945007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620" y="442923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5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037772" y="3797370"/>
            <a:ext cx="29819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5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6</a:t>
            </a:r>
            <a:endParaRPr lang="en-US" sz="1945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A05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921748" y="704602"/>
            <a:ext cx="441305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FORMULA COUNTED: C₈H₁₈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706636" y="1571425"/>
            <a:ext cx="7975797" cy="3377346"/>
            <a:chOff x="0" y="0"/>
            <a:chExt cx="10634396" cy="45031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11126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747817" y="5346278"/>
            <a:ext cx="7975797" cy="3213354"/>
            <a:chOff x="0" y="0"/>
            <a:chExt cx="10634396" cy="42844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4345" cy="4284523"/>
            </a:xfrm>
            <a:custGeom>
              <a:avLst/>
              <a:gdLst/>
              <a:ahLst/>
              <a:cxnLst/>
              <a:rect l="l" t="t" r="r" b="b"/>
              <a:pathLst>
                <a:path w="10634345" h="4284523">
                  <a:moveTo>
                    <a:pt x="0" y="714091"/>
                  </a:moveTo>
                  <a:cubicBezTo>
                    <a:pt x="0" y="319703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19703"/>
                    <a:pt x="10634345" y="714091"/>
                  </a:cubicBezTo>
                  <a:lnTo>
                    <a:pt x="10634345" y="3570457"/>
                  </a:lnTo>
                  <a:cubicBezTo>
                    <a:pt x="10634345" y="3964846"/>
                    <a:pt x="10421239" y="4284523"/>
                    <a:pt x="10158349" y="4284523"/>
                  </a:cubicBezTo>
                  <a:lnTo>
                    <a:pt x="475996" y="4284523"/>
                  </a:lnTo>
                  <a:cubicBezTo>
                    <a:pt x="213106" y="4284523"/>
                    <a:pt x="0" y="3964846"/>
                    <a:pt x="0" y="3570457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24429" y="6668382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2,2,4-trimethylpentane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3680" y="9197807"/>
            <a:ext cx="162891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2160"/>
              </a:lnSpc>
            </a:pPr>
          </a:p>
        </p:txBody>
      </p:sp>
      <p:grpSp>
        <p:nvGrpSpPr>
          <p:cNvPr id="14" name="Group 14"/>
          <p:cNvGrpSpPr/>
          <p:nvPr/>
        </p:nvGrpSpPr>
        <p:grpSpPr>
          <a:xfrm rot="0">
            <a:off x="2142882" y="2232867"/>
            <a:ext cx="4616408" cy="2408561"/>
            <a:chOff x="0" y="0"/>
            <a:chExt cx="17526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0" y="0"/>
                  </a:moveTo>
                  <a:lnTo>
                    <a:pt x="1752600" y="0"/>
                  </a:lnTo>
                  <a:lnTo>
                    <a:pt x="1752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9032644" y="1686998"/>
            <a:ext cx="8524865" cy="3377346"/>
            <a:chOff x="0" y="0"/>
            <a:chExt cx="11366487" cy="4503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337130" y="1840151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78316" y="2288931"/>
            <a:ext cx="783353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Pare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5 carbon atoms → pentane..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tcompare the locant sets from both ends; choose the lowest set at the first point of difference.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 three methyl groups at C2, C2, and C4 → trimethyl..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grpSp>
        <p:nvGrpSpPr>
          <p:cNvPr id="20" name="Group 20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grpSp>
          <p:nvGrpSpPr>
            <p:cNvPr id="21" name="Group 21"/>
            <p:cNvGrpSpPr/>
            <p:nvPr/>
          </p:nvGrpSpPr>
          <p:grpSpPr>
            <a:xfrm rot="0">
              <a:off x="0" y="0"/>
              <a:ext cx="11366487" cy="2855925"/>
              <a:chOff x="0" y="0"/>
              <a:chExt cx="11366487" cy="2855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366500" cy="2855976"/>
              </a:xfrm>
              <a:custGeom>
                <a:avLst/>
                <a:gdLst/>
                <a:ahLst/>
                <a:cxnLst/>
                <a:rect l="l" t="t" r="r" b="b"/>
                <a:pathLst>
                  <a:path w="11366500" h="2855976">
                    <a:moveTo>
                      <a:pt x="0" y="475996"/>
                    </a:moveTo>
                    <a:cubicBezTo>
                      <a:pt x="0" y="213106"/>
                      <a:pt x="213106" y="0"/>
                      <a:pt x="475996" y="0"/>
                    </a:cubicBezTo>
                    <a:lnTo>
                      <a:pt x="10890504" y="0"/>
                    </a:lnTo>
                    <a:cubicBezTo>
                      <a:pt x="11153394" y="0"/>
                      <a:pt x="11366500" y="213106"/>
                      <a:pt x="11366500" y="475996"/>
                    </a:cubicBezTo>
                    <a:lnTo>
                      <a:pt x="11366500" y="2379980"/>
                    </a:lnTo>
                    <a:cubicBezTo>
                      <a:pt x="11366500" y="2642870"/>
                      <a:pt x="11153394" y="2855976"/>
                      <a:pt x="10890504" y="2855976"/>
                    </a:cubicBezTo>
                    <a:lnTo>
                      <a:pt x="475996" y="2855976"/>
                    </a:lnTo>
                    <a:cubicBezTo>
                      <a:pt x="213106" y="2855976"/>
                      <a:pt x="0" y="2642870"/>
                      <a:pt x="0" y="2379980"/>
                    </a:cubicBezTo>
                    <a:close/>
                  </a:path>
                </a:pathLst>
              </a:custGeom>
              <a:solidFill>
                <a:srgbClr val="EDF3FA"/>
              </a:solidFill>
              <a:ln w="14299" cap="sq">
                <a:solidFill>
                  <a:srgbClr val="D2DCE6"/>
                </a:solidFill>
                <a:prstDash val="solid"/>
                <a:miter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05981" y="207378"/>
              <a:ext cx="10554513" cy="352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THE ALKANE CHECK — REQUIRED</a:t>
              </a:r>
              <a:endPara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896" y="802577"/>
              <a:ext cx="10444709" cy="189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32B34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Verify locants and formula in The Alkane.</a:t>
              </a:r>
              <a:endPara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32B34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Returned name: ______________________</a:t>
              </a:r>
              <a:endPara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32B34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□ Match  □ Mismatch   Reason: __________</a:t>
              </a:r>
              <a:endPara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 rot="0">
              <a:off x="0" y="0"/>
              <a:ext cx="11366487" cy="4398111"/>
              <a:chOff x="0" y="0"/>
              <a:chExt cx="11366487" cy="439811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366500" cy="4398162"/>
              </a:xfrm>
              <a:custGeom>
                <a:avLst/>
                <a:gdLst/>
                <a:ahLst/>
                <a:cxnLst/>
                <a:rect l="l" t="t" r="r" b="b"/>
                <a:pathLst>
                  <a:path w="11366500" h="4398162">
                    <a:moveTo>
                      <a:pt x="0" y="733032"/>
                    </a:moveTo>
                    <a:cubicBezTo>
                      <a:pt x="0" y="328182"/>
                      <a:pt x="213106" y="0"/>
                      <a:pt x="475996" y="0"/>
                    </a:cubicBezTo>
                    <a:lnTo>
                      <a:pt x="10890504" y="0"/>
                    </a:lnTo>
                    <a:cubicBezTo>
                      <a:pt x="11153394" y="0"/>
                      <a:pt x="11366500" y="328182"/>
                      <a:pt x="11366500" y="733032"/>
                    </a:cubicBezTo>
                    <a:lnTo>
                      <a:pt x="11366500" y="3665158"/>
                    </a:lnTo>
                    <a:cubicBezTo>
                      <a:pt x="11366500" y="4070007"/>
                      <a:pt x="11153394" y="4398162"/>
                      <a:pt x="10890504" y="4398162"/>
                    </a:cubicBezTo>
                    <a:lnTo>
                      <a:pt x="475996" y="4398162"/>
                    </a:lnTo>
                    <a:cubicBezTo>
                      <a:pt x="213106" y="4398162"/>
                      <a:pt x="0" y="4070007"/>
                      <a:pt x="0" y="3665158"/>
                    </a:cubicBezTo>
                    <a:close/>
                  </a:path>
                </a:pathLst>
              </a:custGeom>
              <a:solidFill>
                <a:srgbClr val="EDF3FA"/>
              </a:solidFill>
              <a:ln w="14299" cap="sq">
                <a:solidFill>
                  <a:srgbClr val="D2DCE6"/>
                </a:solidFill>
                <a:prstDash val="solid"/>
                <a:miter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 rot="0">
              <a:off x="1569581" y="750303"/>
              <a:ext cx="4560995" cy="2941512"/>
              <a:chOff x="0" y="0"/>
              <a:chExt cx="1752600" cy="11303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752600" cy="1130300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1130300">
                    <a:moveTo>
                      <a:pt x="0" y="0"/>
                    </a:moveTo>
                    <a:lnTo>
                      <a:pt x="1752600" y="0"/>
                    </a:lnTo>
                    <a:lnTo>
                      <a:pt x="1752600" y="1130300"/>
                    </a:lnTo>
                    <a:lnTo>
                      <a:pt x="0" y="1130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373" r="-3373"/>
                </a:stretch>
              </a:blipFill>
            </p:spPr>
          </p:sp>
        </p:grpSp>
        <p:grpSp>
          <p:nvGrpSpPr>
            <p:cNvPr id="29" name="Group 29"/>
            <p:cNvGrpSpPr/>
            <p:nvPr/>
          </p:nvGrpSpPr>
          <p:grpSpPr>
            <a:xfrm rot="0">
              <a:off x="6663378" y="1146897"/>
              <a:ext cx="3859301" cy="959413"/>
              <a:chOff x="0" y="0"/>
              <a:chExt cx="2657479" cy="66064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657479" cy="660643"/>
              </a:xfrm>
              <a:custGeom>
                <a:avLst/>
                <a:gdLst/>
                <a:ahLst/>
                <a:cxnLst/>
                <a:rect l="l" t="t" r="r" b="b"/>
                <a:pathLst>
                  <a:path w="2657479" h="660643">
                    <a:moveTo>
                      <a:pt x="0" y="0"/>
                    </a:moveTo>
                    <a:lnTo>
                      <a:pt x="2657479" y="0"/>
                    </a:lnTo>
                    <a:lnTo>
                      <a:pt x="2657479" y="660643"/>
                    </a:lnTo>
                    <a:lnTo>
                      <a:pt x="0" y="6606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5669" b="-5669"/>
                </a:stretch>
              </a:blipFill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05981" y="207378"/>
              <a:ext cx="10554513" cy="352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THE ALKANE CHECK </a:t>
              </a:r>
              <a:endPara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13692" y="2474610"/>
              <a:ext cx="2758674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735" b="1">
                  <a:solidFill>
                    <a:srgbClr val="123C6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MATCH ✓</a:t>
              </a:r>
              <a:endParaRPr lang="en-US" sz="173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476841" y="4217743"/>
            <a:ext cx="1154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85501" y="3758873"/>
            <a:ext cx="1154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448956" y="4346331"/>
            <a:ext cx="1154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421071" y="4217743"/>
            <a:ext cx="1154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5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401180" y="3758873"/>
            <a:ext cx="1154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747817" y="5346278"/>
            <a:ext cx="7975797" cy="3298584"/>
            <a:chOff x="0" y="0"/>
            <a:chExt cx="10634396" cy="4398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4345" cy="4398162"/>
            </a:xfrm>
            <a:custGeom>
              <a:avLst/>
              <a:gdLst/>
              <a:ahLst/>
              <a:cxnLst/>
              <a:rect l="l" t="t" r="r" b="b"/>
              <a:pathLst>
                <a:path w="10634345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28182"/>
                    <a:pt x="10634345" y="733032"/>
                  </a:cubicBezTo>
                  <a:lnTo>
                    <a:pt x="10634345" y="3665158"/>
                  </a:lnTo>
                  <a:cubicBezTo>
                    <a:pt x="10634345" y="4070007"/>
                    <a:pt x="10421239" y="4398162"/>
                    <a:pt x="10158349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3442127" y="1991277"/>
            <a:ext cx="2587178" cy="2765604"/>
            <a:chOff x="0" y="0"/>
            <a:chExt cx="1104900" cy="1181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4900" cy="1181100"/>
            </a:xfrm>
            <a:custGeom>
              <a:avLst/>
              <a:gdLst/>
              <a:ahLst/>
              <a:cxnLst/>
              <a:rect l="l" t="t" r="r" b="b"/>
              <a:pathLst>
                <a:path w="1104900" h="1181100">
                  <a:moveTo>
                    <a:pt x="0" y="0"/>
                  </a:moveTo>
                  <a:lnTo>
                    <a:pt x="1104900" y="0"/>
                  </a:lnTo>
                  <a:lnTo>
                    <a:pt x="11049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29528" y="2173357"/>
            <a:ext cx="783353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Pare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4 carbon atoms → butane.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both directions give the locant set 2,3. The alphabetical tie-break gives the lower number to bromo, which comes before methyl.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 bromo and methyl.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grpSp>
        <p:nvGrpSpPr>
          <p:cNvPr id="14" name="Group 14"/>
          <p:cNvGrpSpPr/>
          <p:nvPr/>
        </p:nvGrpSpPr>
        <p:grpSpPr>
          <a:xfrm rot="0">
            <a:off x="8983856" y="5346278"/>
            <a:ext cx="8524865" cy="2141944"/>
            <a:chOff x="0" y="0"/>
            <a:chExt cx="11366487" cy="28559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66500" cy="2855976"/>
            </a:xfrm>
            <a:custGeom>
              <a:avLst/>
              <a:gdLst/>
              <a:ahLst/>
              <a:cxnLst/>
              <a:rect l="l" t="t" r="r" b="b"/>
              <a:pathLst>
                <a:path w="11366500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213106"/>
                    <a:pt x="11366500" y="475996"/>
                  </a:cubicBezTo>
                  <a:lnTo>
                    <a:pt x="11366500" y="2379980"/>
                  </a:lnTo>
                  <a:cubicBezTo>
                    <a:pt x="11366500" y="2642870"/>
                    <a:pt x="11153394" y="2855976"/>
                    <a:pt x="1089050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— REQUIRED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29528" y="5948210"/>
            <a:ext cx="7833531" cy="141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Verify locants and formula in The Alkane.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Returned name: ______________________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□ Match  □ Mismatch   Reason: 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66500" cy="4398162"/>
            </a:xfrm>
            <a:custGeom>
              <a:avLst/>
              <a:gdLst/>
              <a:ahLst/>
              <a:cxnLst/>
              <a:rect l="l" t="t" r="r" b="b"/>
              <a:pathLst>
                <a:path w="11366500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328182"/>
                    <a:pt x="11366500" y="733032"/>
                  </a:cubicBezTo>
                  <a:lnTo>
                    <a:pt x="11366500" y="3665158"/>
                  </a:lnTo>
                  <a:cubicBezTo>
                    <a:pt x="11366500" y="4070007"/>
                    <a:pt x="11153394" y="4398162"/>
                    <a:pt x="10890504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 rot="0">
            <a:off x="10179881" y="5909005"/>
            <a:ext cx="2757978" cy="2447310"/>
            <a:chOff x="0" y="0"/>
            <a:chExt cx="1752600" cy="15551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52600" cy="1555181"/>
            </a:xfrm>
            <a:custGeom>
              <a:avLst/>
              <a:gdLst/>
              <a:ahLst/>
              <a:cxnLst/>
              <a:rect l="l" t="t" r="r" b="b"/>
              <a:pathLst>
                <a:path w="1752600" h="1555181">
                  <a:moveTo>
                    <a:pt x="0" y="0"/>
                  </a:moveTo>
                  <a:lnTo>
                    <a:pt x="1752600" y="0"/>
                  </a:lnTo>
                  <a:lnTo>
                    <a:pt x="1752600" y="1555181"/>
                  </a:lnTo>
                  <a:lnTo>
                    <a:pt x="0" y="1555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413" b="-8413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13981390" y="6206450"/>
            <a:ext cx="2894476" cy="719560"/>
            <a:chOff x="0" y="0"/>
            <a:chExt cx="2657479" cy="66064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57479" cy="660643"/>
            </a:xfrm>
            <a:custGeom>
              <a:avLst/>
              <a:gdLst/>
              <a:ahLst/>
              <a:cxnLst/>
              <a:rect l="l" t="t" r="r" b="b"/>
              <a:pathLst>
                <a:path w="2657479" h="660643">
                  <a:moveTo>
                    <a:pt x="0" y="0"/>
                  </a:moveTo>
                  <a:lnTo>
                    <a:pt x="2657479" y="0"/>
                  </a:lnTo>
                  <a:lnTo>
                    <a:pt x="2657479" y="660643"/>
                  </a:lnTo>
                  <a:lnTo>
                    <a:pt x="0" y="66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8" r="-508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A06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829326" y="704602"/>
            <a:ext cx="4597896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FORMULA COUNTED: C₅H₁₁Br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(WRITE BEFORE CHECKING)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19533" y="6585994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2-bromo-3-methylbutane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19533" y="9330661"/>
            <a:ext cx="162891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216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394125" y="7202235"/>
            <a:ext cx="20690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73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35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442127" y="4260428"/>
            <a:ext cx="30663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429084" y="3973582"/>
            <a:ext cx="30663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735720" y="2814156"/>
            <a:ext cx="30663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476493" y="2163832"/>
            <a:ext cx="30663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747817" y="5346278"/>
            <a:ext cx="7975797" cy="3298584"/>
            <a:chOff x="0" y="0"/>
            <a:chExt cx="10634396" cy="43981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34345" cy="4398162"/>
            </a:xfrm>
            <a:custGeom>
              <a:avLst/>
              <a:gdLst/>
              <a:ahLst/>
              <a:cxnLst/>
              <a:rect l="l" t="t" r="r" b="b"/>
              <a:pathLst>
                <a:path w="10634345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28182"/>
                    <a:pt x="10634345" y="733032"/>
                  </a:cubicBezTo>
                  <a:lnTo>
                    <a:pt x="10634345" y="3665158"/>
                  </a:lnTo>
                  <a:cubicBezTo>
                    <a:pt x="10634345" y="4070007"/>
                    <a:pt x="10421239" y="4398162"/>
                    <a:pt x="10158349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 rot="0">
            <a:off x="8983856" y="5346278"/>
            <a:ext cx="8524865" cy="2141944"/>
            <a:chOff x="0" y="0"/>
            <a:chExt cx="11366487" cy="28559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66500" cy="2855976"/>
            </a:xfrm>
            <a:custGeom>
              <a:avLst/>
              <a:gdLst/>
              <a:ahLst/>
              <a:cxnLst/>
              <a:rect l="l" t="t" r="r" b="b"/>
              <a:pathLst>
                <a:path w="11366500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213106"/>
                    <a:pt x="11366500" y="475996"/>
                  </a:cubicBezTo>
                  <a:lnTo>
                    <a:pt x="11366500" y="2379980"/>
                  </a:lnTo>
                  <a:cubicBezTo>
                    <a:pt x="11366500" y="2642870"/>
                    <a:pt x="11153394" y="2855976"/>
                    <a:pt x="1089050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— REQUIRED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29528" y="5948210"/>
            <a:ext cx="7833531" cy="141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Verify in The Alkane.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Returned name: ______________________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□ Match  □ Mismatch   Reason: 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2417027" y="1898873"/>
            <a:ext cx="3546603" cy="2928388"/>
            <a:chOff x="0" y="0"/>
            <a:chExt cx="1384300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84300" cy="1143000"/>
            </a:xfrm>
            <a:custGeom>
              <a:avLst/>
              <a:gdLst/>
              <a:ahLst/>
              <a:cxnLst/>
              <a:rect l="l" t="t" r="r" b="b"/>
              <a:pathLst>
                <a:path w="1384300" h="1143000">
                  <a:moveTo>
                    <a:pt x="0" y="0"/>
                  </a:moveTo>
                  <a:lnTo>
                    <a:pt x="1384300" y="0"/>
                  </a:lnTo>
                  <a:lnTo>
                    <a:pt x="13843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66500" cy="4398162"/>
            </a:xfrm>
            <a:custGeom>
              <a:avLst/>
              <a:gdLst/>
              <a:ahLst/>
              <a:cxnLst/>
              <a:rect l="l" t="t" r="r" b="b"/>
              <a:pathLst>
                <a:path w="11366500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328182"/>
                    <a:pt x="11366500" y="733032"/>
                  </a:cubicBezTo>
                  <a:lnTo>
                    <a:pt x="11366500" y="3665158"/>
                  </a:lnTo>
                  <a:cubicBezTo>
                    <a:pt x="11366500" y="4070007"/>
                    <a:pt x="11153394" y="4398162"/>
                    <a:pt x="10890504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0">
            <a:off x="10039850" y="5948210"/>
            <a:ext cx="3038039" cy="2239444"/>
            <a:chOff x="0" y="0"/>
            <a:chExt cx="1752600" cy="12919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2600" cy="1291902"/>
            </a:xfrm>
            <a:custGeom>
              <a:avLst/>
              <a:gdLst/>
              <a:ahLst/>
              <a:cxnLst/>
              <a:rect l="l" t="t" r="r" b="b"/>
              <a:pathLst>
                <a:path w="1752600" h="1291902">
                  <a:moveTo>
                    <a:pt x="0" y="0"/>
                  </a:moveTo>
                  <a:lnTo>
                    <a:pt x="1752600" y="0"/>
                  </a:lnTo>
                  <a:lnTo>
                    <a:pt x="1752600" y="1291902"/>
                  </a:lnTo>
                  <a:lnTo>
                    <a:pt x="0" y="1291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889" b="-988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13981390" y="6206450"/>
            <a:ext cx="2894476" cy="719560"/>
            <a:chOff x="0" y="0"/>
            <a:chExt cx="2657479" cy="6606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57479" cy="660643"/>
            </a:xfrm>
            <a:custGeom>
              <a:avLst/>
              <a:gdLst/>
              <a:ahLst/>
              <a:cxnLst/>
              <a:rect l="l" t="t" r="r" b="b"/>
              <a:pathLst>
                <a:path w="2657479" h="660643">
                  <a:moveTo>
                    <a:pt x="0" y="0"/>
                  </a:moveTo>
                  <a:lnTo>
                    <a:pt x="2657479" y="0"/>
                  </a:lnTo>
                  <a:lnTo>
                    <a:pt x="2657479" y="660643"/>
                  </a:lnTo>
                  <a:lnTo>
                    <a:pt x="0" y="66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73" b="-7173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29528" y="2173357"/>
            <a:ext cx="7833531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Pare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six-membered carbon ring → cyclohexane.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 single substituent on the ring does not require a locant.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:one methyl group.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A07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921748" y="704602"/>
            <a:ext cx="441305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FORMULA COUNTED: C₇H₁₄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(WRITE BEFORE CHECKING)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93489" y="6775780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methylcyclohexane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99406" y="9330661"/>
            <a:ext cx="162891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216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394125" y="7202235"/>
            <a:ext cx="20690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73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35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330885" y="2591352"/>
            <a:ext cx="34567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330885" y="3678307"/>
            <a:ext cx="34567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390049" y="4560560"/>
            <a:ext cx="34567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617958" y="3812572"/>
            <a:ext cx="34567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617958" y="2591352"/>
            <a:ext cx="34567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5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390049" y="1981752"/>
            <a:ext cx="34567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6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747817" y="5346278"/>
            <a:ext cx="7975797" cy="3298584"/>
            <a:chOff x="0" y="0"/>
            <a:chExt cx="10634396" cy="4398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4345" cy="4398162"/>
            </a:xfrm>
            <a:custGeom>
              <a:avLst/>
              <a:gdLst/>
              <a:ahLst/>
              <a:cxnLst/>
              <a:rect l="l" t="t" r="r" b="b"/>
              <a:pathLst>
                <a:path w="10634345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28182"/>
                    <a:pt x="10634345" y="733032"/>
                  </a:cubicBezTo>
                  <a:lnTo>
                    <a:pt x="10634345" y="3665158"/>
                  </a:lnTo>
                  <a:cubicBezTo>
                    <a:pt x="10634345" y="4070007"/>
                    <a:pt x="10421239" y="4398162"/>
                    <a:pt x="10158349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8983856" y="5346278"/>
            <a:ext cx="8524865" cy="2141944"/>
            <a:chOff x="0" y="0"/>
            <a:chExt cx="11366487" cy="28559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66500" cy="2855976"/>
            </a:xfrm>
            <a:custGeom>
              <a:avLst/>
              <a:gdLst/>
              <a:ahLst/>
              <a:cxnLst/>
              <a:rect l="l" t="t" r="r" b="b"/>
              <a:pathLst>
                <a:path w="11366500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213106"/>
                    <a:pt x="11366500" y="475996"/>
                  </a:cubicBezTo>
                  <a:lnTo>
                    <a:pt x="11366500" y="2379980"/>
                  </a:lnTo>
                  <a:cubicBezTo>
                    <a:pt x="11366500" y="2642870"/>
                    <a:pt x="11153394" y="2855976"/>
                    <a:pt x="1089050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— REQUIRED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29528" y="5948210"/>
            <a:ext cx="7833531" cy="141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Verify ring positions against the original image.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Returned name: ______________________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□ Match  □ Mismatch   Reason: 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2222947" y="2173357"/>
            <a:ext cx="4305575" cy="2320370"/>
            <a:chOff x="0" y="0"/>
            <a:chExt cx="2120900" cy="1143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0900" cy="1143000"/>
            </a:xfrm>
            <a:custGeom>
              <a:avLst/>
              <a:gdLst/>
              <a:ahLst/>
              <a:cxnLst/>
              <a:rect l="l" t="t" r="r" b="b"/>
              <a:pathLst>
                <a:path w="2120900" h="1143000">
                  <a:moveTo>
                    <a:pt x="0" y="0"/>
                  </a:moveTo>
                  <a:lnTo>
                    <a:pt x="2120900" y="0"/>
                  </a:lnTo>
                  <a:lnTo>
                    <a:pt x="21209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66500" cy="4398162"/>
            </a:xfrm>
            <a:custGeom>
              <a:avLst/>
              <a:gdLst/>
              <a:ahLst/>
              <a:cxnLst/>
              <a:rect l="l" t="t" r="r" b="b"/>
              <a:pathLst>
                <a:path w="11366500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328182"/>
                    <a:pt x="11366500" y="733032"/>
                  </a:cubicBezTo>
                  <a:lnTo>
                    <a:pt x="11366500" y="3665158"/>
                  </a:lnTo>
                  <a:cubicBezTo>
                    <a:pt x="11366500" y="4070007"/>
                    <a:pt x="11153394" y="4398162"/>
                    <a:pt x="10890504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0">
            <a:off x="10161042" y="5909005"/>
            <a:ext cx="3420747" cy="2206134"/>
            <a:chOff x="0" y="0"/>
            <a:chExt cx="1752600" cy="1130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2600" cy="1130300"/>
            </a:xfrm>
            <a:custGeom>
              <a:avLst/>
              <a:gdLst/>
              <a:ahLst/>
              <a:cxnLst/>
              <a:rect l="l" t="t" r="r" b="b"/>
              <a:pathLst>
                <a:path w="1752600" h="1130300">
                  <a:moveTo>
                    <a:pt x="0" y="0"/>
                  </a:moveTo>
                  <a:lnTo>
                    <a:pt x="1752600" y="0"/>
                  </a:lnTo>
                  <a:lnTo>
                    <a:pt x="17526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610" r="-661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3848569" y="6195497"/>
            <a:ext cx="3355658" cy="577371"/>
            <a:chOff x="0" y="0"/>
            <a:chExt cx="3839633" cy="6606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39633" cy="660643"/>
            </a:xfrm>
            <a:custGeom>
              <a:avLst/>
              <a:gdLst/>
              <a:ahLst/>
              <a:cxnLst/>
              <a:rect l="l" t="t" r="r" b="b"/>
              <a:pathLst>
                <a:path w="3839633" h="660643">
                  <a:moveTo>
                    <a:pt x="0" y="0"/>
                  </a:moveTo>
                  <a:lnTo>
                    <a:pt x="3839633" y="0"/>
                  </a:lnTo>
                  <a:lnTo>
                    <a:pt x="3839633" y="660643"/>
                  </a:lnTo>
                  <a:lnTo>
                    <a:pt x="0" y="66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006" b="-5006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29528" y="2173357"/>
            <a:ext cx="7833531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Pare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 cyclohexane.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the two substituents have locants 1 and 3 in either direction. Ethyl receives C1 because it comes alphabetically before methyl.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:ethyl and methyl.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A08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956574" y="704602"/>
            <a:ext cx="43434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CHALLENGE  •  FORMULA COUNTED: C₉H₁₈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(WRITE BEFORE CHECKING)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34675" y="6775780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1-ethyl-3-methylcyclohexane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99406" y="9330661"/>
            <a:ext cx="162891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216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394125" y="7202235"/>
            <a:ext cx="20690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73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35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819573" y="3812572"/>
            <a:ext cx="28088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636460" y="4245416"/>
            <a:ext cx="28088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83535" y="3812572"/>
            <a:ext cx="28088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523977" y="2591352"/>
            <a:ext cx="28088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595274" y="2163832"/>
            <a:ext cx="28088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5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679132" y="2591352"/>
            <a:ext cx="28088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6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747817" y="5346278"/>
            <a:ext cx="7975797" cy="3298584"/>
            <a:chOff x="0" y="0"/>
            <a:chExt cx="10634396" cy="4398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4345" cy="4398162"/>
            </a:xfrm>
            <a:custGeom>
              <a:avLst/>
              <a:gdLst/>
              <a:ahLst/>
              <a:cxnLst/>
              <a:rect l="l" t="t" r="r" b="b"/>
              <a:pathLst>
                <a:path w="10634345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28182"/>
                    <a:pt x="10634345" y="733032"/>
                  </a:cubicBezTo>
                  <a:lnTo>
                    <a:pt x="10634345" y="3665158"/>
                  </a:lnTo>
                  <a:cubicBezTo>
                    <a:pt x="10634345" y="4070007"/>
                    <a:pt x="10421239" y="4398162"/>
                    <a:pt x="10158349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8983856" y="5346278"/>
            <a:ext cx="8524865" cy="2141944"/>
            <a:chOff x="0" y="0"/>
            <a:chExt cx="11366487" cy="28559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66500" cy="2855976"/>
            </a:xfrm>
            <a:custGeom>
              <a:avLst/>
              <a:gdLst/>
              <a:ahLst/>
              <a:cxnLst/>
              <a:rect l="l" t="t" r="r" b="b"/>
              <a:pathLst>
                <a:path w="11366500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213106"/>
                    <a:pt x="11366500" y="475996"/>
                  </a:cubicBezTo>
                  <a:lnTo>
                    <a:pt x="11366500" y="2379980"/>
                  </a:lnTo>
                  <a:cubicBezTo>
                    <a:pt x="11366500" y="2642870"/>
                    <a:pt x="11153394" y="2855976"/>
                    <a:pt x="1089050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— REQUIRED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29528" y="5948210"/>
            <a:ext cx="7833531" cy="141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Verify longest chain and substituent name carefully.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Returned name: ______________________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□ Match  □ Mismatch   Reason: 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2127885" y="2411585"/>
            <a:ext cx="4795278" cy="2177448"/>
            <a:chOff x="0" y="0"/>
            <a:chExt cx="2489200" cy="1130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89200" cy="1130300"/>
            </a:xfrm>
            <a:custGeom>
              <a:avLst/>
              <a:gdLst/>
              <a:ahLst/>
              <a:cxnLst/>
              <a:rect l="l" t="t" r="r" b="b"/>
              <a:pathLst>
                <a:path w="2489200" h="1130300">
                  <a:moveTo>
                    <a:pt x="0" y="0"/>
                  </a:moveTo>
                  <a:lnTo>
                    <a:pt x="2489200" y="0"/>
                  </a:lnTo>
                  <a:lnTo>
                    <a:pt x="24892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66500" cy="4398162"/>
            </a:xfrm>
            <a:custGeom>
              <a:avLst/>
              <a:gdLst/>
              <a:ahLst/>
              <a:cxnLst/>
              <a:rect l="l" t="t" r="r" b="b"/>
              <a:pathLst>
                <a:path w="11366500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328182"/>
                    <a:pt x="11366500" y="733032"/>
                  </a:cubicBezTo>
                  <a:lnTo>
                    <a:pt x="11366500" y="3665158"/>
                  </a:lnTo>
                  <a:cubicBezTo>
                    <a:pt x="11366500" y="4070007"/>
                    <a:pt x="11153394" y="4398162"/>
                    <a:pt x="10890504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0">
            <a:off x="9399314" y="6023076"/>
            <a:ext cx="3906375" cy="1944988"/>
            <a:chOff x="0" y="0"/>
            <a:chExt cx="2270130" cy="1130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0130" cy="1130300"/>
            </a:xfrm>
            <a:custGeom>
              <a:avLst/>
              <a:gdLst/>
              <a:ahLst/>
              <a:cxnLst/>
              <a:rect l="l" t="t" r="r" b="b"/>
              <a:pathLst>
                <a:path w="2270130" h="1130300">
                  <a:moveTo>
                    <a:pt x="0" y="0"/>
                  </a:moveTo>
                  <a:lnTo>
                    <a:pt x="2270130" y="0"/>
                  </a:lnTo>
                  <a:lnTo>
                    <a:pt x="227013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03" r="-400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3659963" y="6213805"/>
            <a:ext cx="3468487" cy="593686"/>
            <a:chOff x="0" y="0"/>
            <a:chExt cx="3859669" cy="6606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59669" cy="660643"/>
            </a:xfrm>
            <a:custGeom>
              <a:avLst/>
              <a:gdLst/>
              <a:ahLst/>
              <a:cxnLst/>
              <a:rect l="l" t="t" r="r" b="b"/>
              <a:pathLst>
                <a:path w="3859669" h="660643">
                  <a:moveTo>
                    <a:pt x="0" y="0"/>
                  </a:moveTo>
                  <a:lnTo>
                    <a:pt x="3859669" y="0"/>
                  </a:lnTo>
                  <a:lnTo>
                    <a:pt x="3859669" y="660643"/>
                  </a:lnTo>
                  <a:lnTo>
                    <a:pt x="0" y="66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01" b="-440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29528" y="2173357"/>
            <a:ext cx="7833531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Pare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6 carbon atoms → hexane.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Number the chain from the end nearest the substituents to obtain the lowest possible locants..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:One methyl group at C2 and one propyl group at C3.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A09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923162" y="704602"/>
            <a:ext cx="4410224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CHALLENGE  •  FORMULA COUNTED: C₁₀H₂₂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(WRITE BEFORE CHECKING)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49842" y="6755675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2-methyl-3-propylhexane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39262" y="9330661"/>
            <a:ext cx="162891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216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394125" y="7202235"/>
            <a:ext cx="20690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73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35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570679" y="2591352"/>
            <a:ext cx="32727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198254" y="3049657"/>
            <a:ext cx="32727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364799" y="4008015"/>
            <a:ext cx="32727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130566" y="4322333"/>
            <a:ext cx="32727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4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782889" y="3678307"/>
            <a:ext cx="32727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5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595893" y="4265190"/>
            <a:ext cx="32727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6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77346"/>
            <a:chOff x="0" y="0"/>
            <a:chExt cx="10634396" cy="4503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472" cy="4503166"/>
            </a:xfrm>
            <a:custGeom>
              <a:avLst/>
              <a:gdLst/>
              <a:ahLst/>
              <a:cxnLst/>
              <a:rect l="l" t="t" r="r" b="b"/>
              <a:pathLst>
                <a:path w="10634472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9883902" y="0"/>
                  </a:lnTo>
                  <a:cubicBezTo>
                    <a:pt x="10298430" y="0"/>
                    <a:pt x="10634472" y="336042"/>
                    <a:pt x="10634472" y="750570"/>
                  </a:cubicBezTo>
                  <a:lnTo>
                    <a:pt x="10634472" y="3752596"/>
                  </a:lnTo>
                  <a:cubicBezTo>
                    <a:pt x="10634472" y="4167124"/>
                    <a:pt x="10298430" y="4503166"/>
                    <a:pt x="9883902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747817" y="5346278"/>
            <a:ext cx="7975797" cy="3342230"/>
            <a:chOff x="0" y="0"/>
            <a:chExt cx="10634396" cy="44563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4345" cy="4456358"/>
            </a:xfrm>
            <a:custGeom>
              <a:avLst/>
              <a:gdLst/>
              <a:ahLst/>
              <a:cxnLst/>
              <a:rect l="l" t="t" r="r" b="b"/>
              <a:pathLst>
                <a:path w="10634345" h="4456358">
                  <a:moveTo>
                    <a:pt x="0" y="742731"/>
                  </a:moveTo>
                  <a:cubicBezTo>
                    <a:pt x="0" y="332525"/>
                    <a:pt x="213106" y="0"/>
                    <a:pt x="475996" y="0"/>
                  </a:cubicBezTo>
                  <a:lnTo>
                    <a:pt x="10158349" y="0"/>
                  </a:lnTo>
                  <a:cubicBezTo>
                    <a:pt x="10421239" y="0"/>
                    <a:pt x="10634345" y="332525"/>
                    <a:pt x="10634345" y="742731"/>
                  </a:cubicBezTo>
                  <a:lnTo>
                    <a:pt x="10634345" y="3713655"/>
                  </a:lnTo>
                  <a:cubicBezTo>
                    <a:pt x="10634345" y="4123861"/>
                    <a:pt x="10421239" y="4456358"/>
                    <a:pt x="10158349" y="4456358"/>
                  </a:cubicBezTo>
                  <a:lnTo>
                    <a:pt x="475996" y="4456358"/>
                  </a:lnTo>
                  <a:cubicBezTo>
                    <a:pt x="213106" y="4456358"/>
                    <a:pt x="0" y="4123862"/>
                    <a:pt x="0" y="3713655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8983856" y="5346278"/>
            <a:ext cx="8524865" cy="2141944"/>
            <a:chOff x="0" y="0"/>
            <a:chExt cx="11366487" cy="28559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66500" cy="2855976"/>
            </a:xfrm>
            <a:custGeom>
              <a:avLst/>
              <a:gdLst/>
              <a:ahLst/>
              <a:cxnLst/>
              <a:rect l="l" t="t" r="r" b="b"/>
              <a:pathLst>
                <a:path w="11366500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213106"/>
                    <a:pt x="11366500" y="475996"/>
                  </a:cubicBezTo>
                  <a:lnTo>
                    <a:pt x="11366500" y="2379980"/>
                  </a:lnTo>
                  <a:cubicBezTo>
                    <a:pt x="11366500" y="2642870"/>
                    <a:pt x="11153394" y="2855976"/>
                    <a:pt x="1089050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— REQUIRED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29528" y="5948210"/>
            <a:ext cx="7833531" cy="141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Verify exact parent/locant from the supplied image.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Returned name: ______________________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□ Match  □ Mismatch   Reason: __________</a:t>
            </a:r>
            <a:endParaRPr lang="en-US" sz="16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964226" y="2293953"/>
            <a:ext cx="4816721" cy="1932289"/>
            <a:chOff x="0" y="0"/>
            <a:chExt cx="2184400" cy="876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4400" cy="876300"/>
            </a:xfrm>
            <a:custGeom>
              <a:avLst/>
              <a:gdLst/>
              <a:ahLst/>
              <a:cxnLst/>
              <a:rect l="l" t="t" r="r" b="b"/>
              <a:pathLst>
                <a:path w="2184400" h="876300">
                  <a:moveTo>
                    <a:pt x="0" y="0"/>
                  </a:moveTo>
                  <a:lnTo>
                    <a:pt x="2184400" y="0"/>
                  </a:lnTo>
                  <a:lnTo>
                    <a:pt x="2184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983856" y="5346278"/>
            <a:ext cx="8524865" cy="3298584"/>
            <a:chOff x="0" y="0"/>
            <a:chExt cx="11366487" cy="4398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66500" cy="4398162"/>
            </a:xfrm>
            <a:custGeom>
              <a:avLst/>
              <a:gdLst/>
              <a:ahLst/>
              <a:cxnLst/>
              <a:rect l="l" t="t" r="r" b="b"/>
              <a:pathLst>
                <a:path w="11366500" h="4398162">
                  <a:moveTo>
                    <a:pt x="0" y="733032"/>
                  </a:moveTo>
                  <a:cubicBezTo>
                    <a:pt x="0" y="328182"/>
                    <a:pt x="213106" y="0"/>
                    <a:pt x="475996" y="0"/>
                  </a:cubicBezTo>
                  <a:lnTo>
                    <a:pt x="10890504" y="0"/>
                  </a:lnTo>
                  <a:cubicBezTo>
                    <a:pt x="11153394" y="0"/>
                    <a:pt x="11366500" y="328182"/>
                    <a:pt x="11366500" y="733032"/>
                  </a:cubicBezTo>
                  <a:lnTo>
                    <a:pt x="11366500" y="3665158"/>
                  </a:lnTo>
                  <a:cubicBezTo>
                    <a:pt x="11366500" y="4070007"/>
                    <a:pt x="11153394" y="4398162"/>
                    <a:pt x="10890504" y="4398162"/>
                  </a:cubicBezTo>
                  <a:lnTo>
                    <a:pt x="475996" y="4398162"/>
                  </a:lnTo>
                  <a:cubicBezTo>
                    <a:pt x="213106" y="4398162"/>
                    <a:pt x="0" y="4070007"/>
                    <a:pt x="0" y="36651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0">
            <a:off x="9596969" y="6328105"/>
            <a:ext cx="3923801" cy="1264263"/>
            <a:chOff x="0" y="0"/>
            <a:chExt cx="3508031" cy="1130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08031" cy="1130300"/>
            </a:xfrm>
            <a:custGeom>
              <a:avLst/>
              <a:gdLst/>
              <a:ahLst/>
              <a:cxnLst/>
              <a:rect l="l" t="t" r="r" b="b"/>
              <a:pathLst>
                <a:path w="3508031" h="1130300">
                  <a:moveTo>
                    <a:pt x="0" y="0"/>
                  </a:moveTo>
                  <a:lnTo>
                    <a:pt x="3508031" y="0"/>
                  </a:lnTo>
                  <a:lnTo>
                    <a:pt x="3508031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692" b="-569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3981390" y="6206450"/>
            <a:ext cx="2894476" cy="719560"/>
            <a:chOff x="0" y="0"/>
            <a:chExt cx="2657479" cy="6606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57479" cy="660643"/>
            </a:xfrm>
            <a:custGeom>
              <a:avLst/>
              <a:gdLst/>
              <a:ahLst/>
              <a:cxnLst/>
              <a:rect l="l" t="t" r="r" b="b"/>
              <a:pathLst>
                <a:path w="2657479" h="660643">
                  <a:moveTo>
                    <a:pt x="0" y="0"/>
                  </a:moveTo>
                  <a:lnTo>
                    <a:pt x="2657479" y="0"/>
                  </a:lnTo>
                  <a:lnTo>
                    <a:pt x="2657479" y="660643"/>
                  </a:lnTo>
                  <a:lnTo>
                    <a:pt x="0" y="66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277" b="-1927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8983856" y="1571425"/>
            <a:ext cx="8524865" cy="3377346"/>
            <a:chOff x="0" y="0"/>
            <a:chExt cx="11366487" cy="4503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66500" cy="4503166"/>
            </a:xfrm>
            <a:custGeom>
              <a:avLst/>
              <a:gdLst/>
              <a:ahLst/>
              <a:cxnLst/>
              <a:rect l="l" t="t" r="r" b="b"/>
              <a:pathLst>
                <a:path w="11366500" h="4503166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10615930" y="0"/>
                  </a:lnTo>
                  <a:cubicBezTo>
                    <a:pt x="11030458" y="0"/>
                    <a:pt x="11366500" y="336042"/>
                    <a:pt x="11366500" y="750570"/>
                  </a:cubicBezTo>
                  <a:lnTo>
                    <a:pt x="11366500" y="3752596"/>
                  </a:lnTo>
                  <a:cubicBezTo>
                    <a:pt x="11366500" y="4167124"/>
                    <a:pt x="11030458" y="4503166"/>
                    <a:pt x="1061593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NAMING TRAIL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29528" y="2173357"/>
            <a:ext cx="7833531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Pare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Cyclopropane ring (3 carbon atoms).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Numbering: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The ring carbon attached to the butyl group is carbon 1. Since there is only one substituent on the ring, no additional locant is required in the name.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:One butyl group (4 carbon atoms) attached to carbon 1 of the cyclopropane ring.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A10 — STRUCTURE → NAME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937450" y="704602"/>
            <a:ext cx="465311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CHALLENGE  •  FORMULA COUNTED: C7H14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GIVEN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2312" y="549943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MY IUPAC NAME (WRITE BEFORE CHECKING)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34675" y="6775780"/>
            <a:ext cx="72844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butylcyclopropane</a:t>
            </a:r>
            <a:endParaRPr lang="en-US" sz="27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19533" y="9330661"/>
            <a:ext cx="162891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✓ Longest chain confirmed · ✓ Lowest locant · ✓ Alphabetical order · ✓ Punctuation · ✓ Formula counted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216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288342" y="5499430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THE ALKANE CHECK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394125" y="7202235"/>
            <a:ext cx="20690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735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MATCH ✓</a:t>
            </a:r>
            <a:endParaRPr lang="en-US" sz="1735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820868" y="2284428"/>
            <a:ext cx="30449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2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476452" y="3250573"/>
            <a:ext cx="30449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3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516373" y="3492570"/>
            <a:ext cx="30449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1</a:t>
            </a:r>
            <a:endParaRPr lang="en-US" sz="1700" b="1">
              <a:solidFill>
                <a:srgbClr val="000000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45983"/>
            <a:chOff x="0" y="0"/>
            <a:chExt cx="10634396" cy="4594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94510"/>
            </a:xfrm>
            <a:custGeom>
              <a:avLst/>
              <a:gdLst/>
              <a:ahLst/>
              <a:cxnLst/>
              <a:rect l="l" t="t" r="r" b="b"/>
              <a:pathLst>
                <a:path w="10634345" h="4594510">
                  <a:moveTo>
                    <a:pt x="0" y="765752"/>
                  </a:moveTo>
                  <a:cubicBezTo>
                    <a:pt x="0" y="342937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2937"/>
                    <a:pt x="10634345" y="765752"/>
                  </a:cubicBezTo>
                  <a:lnTo>
                    <a:pt x="10634345" y="3828758"/>
                  </a:lnTo>
                  <a:cubicBezTo>
                    <a:pt x="10634345" y="4251765"/>
                    <a:pt x="10407523" y="4594509"/>
                    <a:pt x="10127869" y="4594509"/>
                  </a:cubicBezTo>
                  <a:lnTo>
                    <a:pt x="506476" y="4594509"/>
                  </a:lnTo>
                  <a:cubicBezTo>
                    <a:pt x="226822" y="4594682"/>
                    <a:pt x="0" y="4251765"/>
                    <a:pt x="0" y="38287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472036"/>
            <a:ext cx="7975797" cy="2929448"/>
            <a:chOff x="0" y="0"/>
            <a:chExt cx="10634396" cy="39059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906020"/>
            </a:xfrm>
            <a:custGeom>
              <a:avLst/>
              <a:gdLst/>
              <a:ahLst/>
              <a:cxnLst/>
              <a:rect l="l" t="t" r="r" b="b"/>
              <a:pathLst>
                <a:path w="10634472" h="3906020">
                  <a:moveTo>
                    <a:pt x="0" y="651078"/>
                  </a:moveTo>
                  <a:cubicBezTo>
                    <a:pt x="0" y="291471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91471"/>
                    <a:pt x="10634472" y="651078"/>
                  </a:cubicBezTo>
                  <a:lnTo>
                    <a:pt x="10634472" y="3254992"/>
                  </a:lnTo>
                  <a:cubicBezTo>
                    <a:pt x="10634472" y="3614600"/>
                    <a:pt x="10448671" y="3906020"/>
                    <a:pt x="10219436" y="3906020"/>
                  </a:cubicBezTo>
                  <a:lnTo>
                    <a:pt x="415036" y="3906020"/>
                  </a:lnTo>
                  <a:cubicBezTo>
                    <a:pt x="185801" y="3905871"/>
                    <a:pt x="0" y="3614400"/>
                    <a:pt x="0" y="3254992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986579"/>
            <a:chOff x="0" y="0"/>
            <a:chExt cx="11366487" cy="39821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982079"/>
            </a:xfrm>
            <a:custGeom>
              <a:avLst/>
              <a:gdLst/>
              <a:ahLst/>
              <a:cxnLst/>
              <a:rect l="l" t="t" r="r" b="b"/>
              <a:pathLst>
                <a:path w="11366500" h="3982079">
                  <a:moveTo>
                    <a:pt x="0" y="663702"/>
                  </a:moveTo>
                  <a:cubicBezTo>
                    <a:pt x="0" y="297184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97184"/>
                    <a:pt x="11366500" y="663702"/>
                  </a:cubicBezTo>
                  <a:lnTo>
                    <a:pt x="11366500" y="3318377"/>
                  </a:lnTo>
                  <a:cubicBezTo>
                    <a:pt x="11366500" y="3684894"/>
                    <a:pt x="11085068" y="3982079"/>
                    <a:pt x="10737977" y="3982079"/>
                  </a:cubicBezTo>
                  <a:lnTo>
                    <a:pt x="628523" y="3982079"/>
                  </a:lnTo>
                  <a:cubicBezTo>
                    <a:pt x="281432" y="3982079"/>
                    <a:pt x="0" y="3684894"/>
                    <a:pt x="0" y="3318377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10402644" y="2219325"/>
            <a:ext cx="2690384" cy="2346141"/>
            <a:chOff x="0" y="0"/>
            <a:chExt cx="2270130" cy="19796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1979661"/>
            </a:xfrm>
            <a:custGeom>
              <a:avLst/>
              <a:gdLst/>
              <a:ahLst/>
              <a:cxnLst/>
              <a:rect l="l" t="t" r="r" b="b"/>
              <a:pathLst>
                <a:path w="2270130" h="1979661">
                  <a:moveTo>
                    <a:pt x="0" y="0"/>
                  </a:moveTo>
                  <a:lnTo>
                    <a:pt x="2270130" y="0"/>
                  </a:lnTo>
                  <a:lnTo>
                    <a:pt x="2270130" y="1979661"/>
                  </a:lnTo>
                  <a:lnTo>
                    <a:pt x="0" y="197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163" r="-116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B01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47322" y="704602"/>
            <a:ext cx="476190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FOUNDATION  •  GIVEN NAME: 2-methylpropane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93489" y="2173357"/>
            <a:ext cx="7284453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Propane → a 3-carbon chain.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Methyl on C2.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3 + 1 = 4 C; open-chain alkane → C₄H₁₀.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52312" y="5625189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93489" y="6073969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C₄H₁₀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CₙH₂ₙ₊₂ = C₄H₁₀.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915038" y="899160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80523" y="564605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521704" y="6188269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2-methylpropane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id="24" name="Group 24"/>
          <p:cNvGrpSpPr/>
          <p:nvPr/>
        </p:nvGrpSpPr>
        <p:grpSpPr>
          <a:xfrm rot="0">
            <a:off x="13358574" y="2746151"/>
            <a:ext cx="3488765" cy="1048192"/>
            <a:chOff x="0" y="0"/>
            <a:chExt cx="6589033" cy="19796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89033" cy="1979661"/>
            </a:xfrm>
            <a:custGeom>
              <a:avLst/>
              <a:gdLst/>
              <a:ahLst/>
              <a:cxnLst/>
              <a:rect l="l" t="t" r="r" b="b"/>
              <a:pathLst>
                <a:path w="6589033" h="1979661">
                  <a:moveTo>
                    <a:pt x="0" y="0"/>
                  </a:moveTo>
                  <a:lnTo>
                    <a:pt x="6589033" y="0"/>
                  </a:lnTo>
                  <a:lnTo>
                    <a:pt x="6589033" y="1979661"/>
                  </a:lnTo>
                  <a:lnTo>
                    <a:pt x="0" y="197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397" b="-6397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45983"/>
            <a:chOff x="0" y="0"/>
            <a:chExt cx="10634396" cy="4594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94510"/>
            </a:xfrm>
            <a:custGeom>
              <a:avLst/>
              <a:gdLst/>
              <a:ahLst/>
              <a:cxnLst/>
              <a:rect l="l" t="t" r="r" b="b"/>
              <a:pathLst>
                <a:path w="10634345" h="4594510">
                  <a:moveTo>
                    <a:pt x="0" y="765752"/>
                  </a:moveTo>
                  <a:cubicBezTo>
                    <a:pt x="0" y="342937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2937"/>
                    <a:pt x="10634345" y="765752"/>
                  </a:cubicBezTo>
                  <a:lnTo>
                    <a:pt x="10634345" y="3828758"/>
                  </a:lnTo>
                  <a:cubicBezTo>
                    <a:pt x="10634345" y="4251765"/>
                    <a:pt x="10407523" y="4594509"/>
                    <a:pt x="10127869" y="4594509"/>
                  </a:cubicBezTo>
                  <a:lnTo>
                    <a:pt x="506476" y="4594509"/>
                  </a:lnTo>
                  <a:cubicBezTo>
                    <a:pt x="226822" y="4594682"/>
                    <a:pt x="0" y="4251765"/>
                    <a:pt x="0" y="38287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22" y="5372710"/>
            <a:ext cx="7975797" cy="2870473"/>
            <a:chOff x="0" y="0"/>
            <a:chExt cx="10634396" cy="38272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827386"/>
            </a:xfrm>
            <a:custGeom>
              <a:avLst/>
              <a:gdLst/>
              <a:ahLst/>
              <a:cxnLst/>
              <a:rect l="l" t="t" r="r" b="b"/>
              <a:pathLst>
                <a:path w="10634472" h="3827386">
                  <a:moveTo>
                    <a:pt x="0" y="637971"/>
                  </a:moveTo>
                  <a:cubicBezTo>
                    <a:pt x="0" y="285603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85603"/>
                    <a:pt x="10634472" y="637971"/>
                  </a:cubicBezTo>
                  <a:lnTo>
                    <a:pt x="10634472" y="3189463"/>
                  </a:lnTo>
                  <a:cubicBezTo>
                    <a:pt x="10634472" y="3541831"/>
                    <a:pt x="10448671" y="3827386"/>
                    <a:pt x="10219436" y="3827386"/>
                  </a:cubicBezTo>
                  <a:lnTo>
                    <a:pt x="415036" y="3827386"/>
                  </a:lnTo>
                  <a:cubicBezTo>
                    <a:pt x="185801" y="3827239"/>
                    <a:pt x="0" y="3541636"/>
                    <a:pt x="0" y="3189463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652172" y="2363324"/>
            <a:ext cx="3906375" cy="1944988"/>
            <a:chOff x="0" y="0"/>
            <a:chExt cx="2270130" cy="1130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1130300"/>
            </a:xfrm>
            <a:custGeom>
              <a:avLst/>
              <a:gdLst/>
              <a:ahLst/>
              <a:cxnLst/>
              <a:rect l="l" t="t" r="r" b="b"/>
              <a:pathLst>
                <a:path w="2270130" h="1130300">
                  <a:moveTo>
                    <a:pt x="0" y="0"/>
                  </a:moveTo>
                  <a:lnTo>
                    <a:pt x="2270130" y="0"/>
                  </a:lnTo>
                  <a:lnTo>
                    <a:pt x="227013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709" b="-170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3846594" y="2876042"/>
            <a:ext cx="3062875" cy="746214"/>
            <a:chOff x="0" y="0"/>
            <a:chExt cx="4639374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39375" cy="1130300"/>
            </a:xfrm>
            <a:custGeom>
              <a:avLst/>
              <a:gdLst/>
              <a:ahLst/>
              <a:cxnLst/>
              <a:rect l="l" t="t" r="r" b="b"/>
              <a:pathLst>
                <a:path w="4639375" h="1130300">
                  <a:moveTo>
                    <a:pt x="0" y="0"/>
                  </a:moveTo>
                  <a:lnTo>
                    <a:pt x="4639375" y="0"/>
                  </a:lnTo>
                  <a:lnTo>
                    <a:pt x="4639375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011" b="-1801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B02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835875" y="704602"/>
            <a:ext cx="4584799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FOUNDATION  •  GIVEN NAME: 3-ethylpentane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2317" y="5525862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8342" y="5654450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34680" y="6074683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C₇H₁₆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CₙH₂ₙ₊₂ = C₇H₁₆.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1093499" y="2363324"/>
            <a:ext cx="7284453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Pentane → a 5-carbon chain.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Ethyl on C3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5 + 2 = 7 C; open-chain alkane → C₇H₁₆.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370705" y="6188983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3-ethylpentane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45983"/>
            <a:chOff x="0" y="0"/>
            <a:chExt cx="10634396" cy="4594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94510"/>
            </a:xfrm>
            <a:custGeom>
              <a:avLst/>
              <a:gdLst/>
              <a:ahLst/>
              <a:cxnLst/>
              <a:rect l="l" t="t" r="r" b="b"/>
              <a:pathLst>
                <a:path w="10634345" h="4594510">
                  <a:moveTo>
                    <a:pt x="0" y="765752"/>
                  </a:moveTo>
                  <a:cubicBezTo>
                    <a:pt x="0" y="342937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2937"/>
                    <a:pt x="10634345" y="765752"/>
                  </a:cubicBezTo>
                  <a:lnTo>
                    <a:pt x="10634345" y="3828758"/>
                  </a:lnTo>
                  <a:cubicBezTo>
                    <a:pt x="10634345" y="4251765"/>
                    <a:pt x="10407523" y="4594509"/>
                    <a:pt x="10127869" y="4594509"/>
                  </a:cubicBezTo>
                  <a:lnTo>
                    <a:pt x="506476" y="4594509"/>
                  </a:lnTo>
                  <a:cubicBezTo>
                    <a:pt x="226822" y="4594682"/>
                    <a:pt x="0" y="4251765"/>
                    <a:pt x="0" y="38287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9667342" y="2199110"/>
            <a:ext cx="2986086" cy="2358966"/>
            <a:chOff x="0" y="0"/>
            <a:chExt cx="2270130" cy="17933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0130" cy="1793372"/>
            </a:xfrm>
            <a:custGeom>
              <a:avLst/>
              <a:gdLst/>
              <a:ahLst/>
              <a:cxnLst/>
              <a:rect l="l" t="t" r="r" b="b"/>
              <a:pathLst>
                <a:path w="2270130" h="1793372">
                  <a:moveTo>
                    <a:pt x="0" y="0"/>
                  </a:moveTo>
                  <a:lnTo>
                    <a:pt x="2270130" y="0"/>
                  </a:lnTo>
                  <a:lnTo>
                    <a:pt x="2270130" y="1793372"/>
                  </a:lnTo>
                  <a:lnTo>
                    <a:pt x="0" y="1793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593" b="-159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747817" y="5361689"/>
            <a:ext cx="7975797" cy="2881493"/>
            <a:chOff x="0" y="0"/>
            <a:chExt cx="10634396" cy="38419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34472" cy="3842080"/>
            </a:xfrm>
            <a:custGeom>
              <a:avLst/>
              <a:gdLst/>
              <a:ahLst/>
              <a:cxnLst/>
              <a:rect l="l" t="t" r="r" b="b"/>
              <a:pathLst>
                <a:path w="10634472" h="3842080">
                  <a:moveTo>
                    <a:pt x="0" y="640420"/>
                  </a:moveTo>
                  <a:cubicBezTo>
                    <a:pt x="0" y="286700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86700"/>
                    <a:pt x="10634472" y="640420"/>
                  </a:cubicBezTo>
                  <a:lnTo>
                    <a:pt x="10634472" y="3201708"/>
                  </a:lnTo>
                  <a:cubicBezTo>
                    <a:pt x="10634472" y="3555429"/>
                    <a:pt x="10448671" y="3842080"/>
                    <a:pt x="10219436" y="3842080"/>
                  </a:cubicBezTo>
                  <a:lnTo>
                    <a:pt x="415036" y="3842080"/>
                  </a:lnTo>
                  <a:cubicBezTo>
                    <a:pt x="185801" y="3841933"/>
                    <a:pt x="0" y="3555233"/>
                    <a:pt x="0" y="320170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 rot="0">
            <a:off x="13246289" y="2832756"/>
            <a:ext cx="3545279" cy="923322"/>
            <a:chOff x="0" y="0"/>
            <a:chExt cx="4340013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40013" cy="1130300"/>
            </a:xfrm>
            <a:custGeom>
              <a:avLst/>
              <a:gdLst/>
              <a:ahLst/>
              <a:cxnLst/>
              <a:rect l="l" t="t" r="r" b="b"/>
              <a:pathLst>
                <a:path w="4340013" h="1130300">
                  <a:moveTo>
                    <a:pt x="0" y="0"/>
                  </a:moveTo>
                  <a:lnTo>
                    <a:pt x="4340013" y="0"/>
                  </a:lnTo>
                  <a:lnTo>
                    <a:pt x="4340013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72" b="-9072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B03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43514" y="704602"/>
            <a:ext cx="496952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FOUNDATION  •  GIVEN NAME: 2,2-dimethylbutane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93494" y="2078984"/>
            <a:ext cx="7284453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Butane → a 4-carbon chain.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Two methyl groups on C2.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4 + 1 + 1 = 6 C; open-chain alkane → C₆H₁₄.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2" name="TextBox 22"/>
          <p:cNvSpPr txBox="1"/>
          <p:nvPr/>
        </p:nvSpPr>
        <p:spPr>
          <a:xfrm>
            <a:off x="1052312" y="5514842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40722" y="6071762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</a:t>
            </a:r>
            <a:r>
              <a:rPr lang="en-US" sz="195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C₆H₁₄</a:t>
            </a:r>
            <a:endParaRPr lang="en-US" sz="195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CₙH₂ₙ₊₂ = C₆H₁₄.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9370705" y="6172731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2,2-dimethylbutane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288342" y="564605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45983"/>
            <a:chOff x="0" y="0"/>
            <a:chExt cx="10634396" cy="4594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94510"/>
            </a:xfrm>
            <a:custGeom>
              <a:avLst/>
              <a:gdLst/>
              <a:ahLst/>
              <a:cxnLst/>
              <a:rect l="l" t="t" r="r" b="b"/>
              <a:pathLst>
                <a:path w="10634345" h="4594510">
                  <a:moveTo>
                    <a:pt x="0" y="765752"/>
                  </a:moveTo>
                  <a:cubicBezTo>
                    <a:pt x="0" y="342937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2937"/>
                    <a:pt x="10634345" y="765752"/>
                  </a:cubicBezTo>
                  <a:lnTo>
                    <a:pt x="10634345" y="3828758"/>
                  </a:lnTo>
                  <a:cubicBezTo>
                    <a:pt x="10634345" y="4251765"/>
                    <a:pt x="10407523" y="4594509"/>
                    <a:pt x="10127869" y="4594509"/>
                  </a:cubicBezTo>
                  <a:lnTo>
                    <a:pt x="506476" y="4594509"/>
                  </a:lnTo>
                  <a:cubicBezTo>
                    <a:pt x="226822" y="4594682"/>
                    <a:pt x="0" y="4251765"/>
                    <a:pt x="0" y="38287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469884"/>
            <a:ext cx="7975797" cy="2773299"/>
            <a:chOff x="0" y="0"/>
            <a:chExt cx="10634396" cy="36977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697821"/>
            </a:xfrm>
            <a:custGeom>
              <a:avLst/>
              <a:gdLst/>
              <a:ahLst/>
              <a:cxnLst/>
              <a:rect l="l" t="t" r="r" b="b"/>
              <a:pathLst>
                <a:path w="10634472" h="3697821">
                  <a:moveTo>
                    <a:pt x="0" y="616374"/>
                  </a:moveTo>
                  <a:cubicBezTo>
                    <a:pt x="0" y="275935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75935"/>
                    <a:pt x="10634472" y="616374"/>
                  </a:cubicBezTo>
                  <a:lnTo>
                    <a:pt x="10634472" y="3081491"/>
                  </a:lnTo>
                  <a:cubicBezTo>
                    <a:pt x="10634472" y="3421929"/>
                    <a:pt x="10448671" y="3697821"/>
                    <a:pt x="10219436" y="3697821"/>
                  </a:cubicBezTo>
                  <a:lnTo>
                    <a:pt x="415036" y="3697821"/>
                  </a:lnTo>
                  <a:cubicBezTo>
                    <a:pt x="185801" y="3697675"/>
                    <a:pt x="0" y="3421741"/>
                    <a:pt x="0" y="3081491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720755" y="2241631"/>
            <a:ext cx="2834482" cy="2459835"/>
            <a:chOff x="0" y="0"/>
            <a:chExt cx="2270130" cy="19700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1970076"/>
            </a:xfrm>
            <a:custGeom>
              <a:avLst/>
              <a:gdLst/>
              <a:ahLst/>
              <a:cxnLst/>
              <a:rect l="l" t="t" r="r" b="b"/>
              <a:pathLst>
                <a:path w="2270130" h="1970076">
                  <a:moveTo>
                    <a:pt x="0" y="0"/>
                  </a:moveTo>
                  <a:lnTo>
                    <a:pt x="2270130" y="0"/>
                  </a:lnTo>
                  <a:lnTo>
                    <a:pt x="2270130" y="1970076"/>
                  </a:lnTo>
                  <a:lnTo>
                    <a:pt x="0" y="1970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65" b="-165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2971750" y="3060110"/>
            <a:ext cx="4157323" cy="565390"/>
            <a:chOff x="0" y="0"/>
            <a:chExt cx="8311121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11121" cy="1130300"/>
            </a:xfrm>
            <a:custGeom>
              <a:avLst/>
              <a:gdLst/>
              <a:ahLst/>
              <a:cxnLst/>
              <a:rect l="l" t="t" r="r" b="b"/>
              <a:pathLst>
                <a:path w="8311121" h="1130300">
                  <a:moveTo>
                    <a:pt x="0" y="0"/>
                  </a:moveTo>
                  <a:lnTo>
                    <a:pt x="8311121" y="0"/>
                  </a:lnTo>
                  <a:lnTo>
                    <a:pt x="8311121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756" b="-4756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B04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446540" y="704602"/>
            <a:ext cx="536346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GIVEN NAME: 3-ethyl-2-methylpentane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2312" y="5623036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8342" y="5807983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93489" y="2321923"/>
            <a:ext cx="7284453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Pentane → a 5-carbon chain</a:t>
            </a:r>
            <a:r>
              <a:rPr lang="en-US" sz="1950">
                <a:solidFill>
                  <a:srgbClr val="123C6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.</a:t>
            </a:r>
            <a:endParaRPr lang="en-US" sz="1950">
              <a:solidFill>
                <a:srgbClr val="123C6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Ethyl on C3; methyl on C2.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5 + 2 + 1 = 8 C; open-chain alkane → C₈H₁₈.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52312" y="6238494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C₈H₁₈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CₙH₂ₙ₊₂ = C₈H₁₈.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370705" y="6238494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3-ethyl-2-methylpentane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13706"/>
            <a:chOff x="0" y="0"/>
            <a:chExt cx="10634396" cy="455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51475"/>
            </a:xfrm>
            <a:custGeom>
              <a:avLst/>
              <a:gdLst/>
              <a:ahLst/>
              <a:cxnLst/>
              <a:rect l="l" t="t" r="r" b="b"/>
              <a:pathLst>
                <a:path w="10634345" h="4551475">
                  <a:moveTo>
                    <a:pt x="0" y="758579"/>
                  </a:moveTo>
                  <a:cubicBezTo>
                    <a:pt x="0" y="339725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39725"/>
                    <a:pt x="10634345" y="758579"/>
                  </a:cubicBezTo>
                  <a:lnTo>
                    <a:pt x="10634345" y="3792896"/>
                  </a:lnTo>
                  <a:cubicBezTo>
                    <a:pt x="10634345" y="4211940"/>
                    <a:pt x="10407523" y="4551475"/>
                    <a:pt x="10127869" y="4551475"/>
                  </a:cubicBezTo>
                  <a:lnTo>
                    <a:pt x="506476" y="4551475"/>
                  </a:lnTo>
                  <a:cubicBezTo>
                    <a:pt x="226822" y="4551646"/>
                    <a:pt x="0" y="4211940"/>
                    <a:pt x="0" y="37928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535387"/>
            <a:ext cx="7975797" cy="2707796"/>
            <a:chOff x="0" y="0"/>
            <a:chExt cx="10634396" cy="36103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610483"/>
            </a:xfrm>
            <a:custGeom>
              <a:avLst/>
              <a:gdLst/>
              <a:ahLst/>
              <a:cxnLst/>
              <a:rect l="l" t="t" r="r" b="b"/>
              <a:pathLst>
                <a:path w="10634472" h="3610483">
                  <a:moveTo>
                    <a:pt x="0" y="601815"/>
                  </a:moveTo>
                  <a:cubicBezTo>
                    <a:pt x="0" y="269417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69417"/>
                    <a:pt x="10634472" y="601815"/>
                  </a:cubicBezTo>
                  <a:lnTo>
                    <a:pt x="10634472" y="3008708"/>
                  </a:lnTo>
                  <a:cubicBezTo>
                    <a:pt x="10634472" y="3341106"/>
                    <a:pt x="10448671" y="3610483"/>
                    <a:pt x="10219436" y="3610483"/>
                  </a:cubicBezTo>
                  <a:lnTo>
                    <a:pt x="415036" y="3610483"/>
                  </a:lnTo>
                  <a:cubicBezTo>
                    <a:pt x="185801" y="3610339"/>
                    <a:pt x="0" y="3340922"/>
                    <a:pt x="0" y="300870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364803" y="2427457"/>
            <a:ext cx="3800529" cy="1892287"/>
            <a:chOff x="0" y="0"/>
            <a:chExt cx="2270130" cy="1130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1130300"/>
            </a:xfrm>
            <a:custGeom>
              <a:avLst/>
              <a:gdLst/>
              <a:ahLst/>
              <a:cxnLst/>
              <a:rect l="l" t="t" r="r" b="b"/>
              <a:pathLst>
                <a:path w="2270130" h="1130300">
                  <a:moveTo>
                    <a:pt x="0" y="0"/>
                  </a:moveTo>
                  <a:lnTo>
                    <a:pt x="2270130" y="0"/>
                  </a:lnTo>
                  <a:lnTo>
                    <a:pt x="227013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3484" b="-1348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3301362" y="2977997"/>
            <a:ext cx="3957938" cy="632839"/>
            <a:chOff x="0" y="0"/>
            <a:chExt cx="7069191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69191" cy="1130300"/>
            </a:xfrm>
            <a:custGeom>
              <a:avLst/>
              <a:gdLst/>
              <a:ahLst/>
              <a:cxnLst/>
              <a:rect l="l" t="t" r="r" b="b"/>
              <a:pathLst>
                <a:path w="7069191" h="1130300">
                  <a:moveTo>
                    <a:pt x="0" y="0"/>
                  </a:moveTo>
                  <a:lnTo>
                    <a:pt x="7069191" y="0"/>
                  </a:lnTo>
                  <a:lnTo>
                    <a:pt x="7069191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037" b="-5037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B05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76963" y="704602"/>
            <a:ext cx="550262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GIVEN NAME: 1-chloro-2-methylpropane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5705144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30880" y="5705144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45889" y="2474323"/>
            <a:ext cx="7284453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Propane → a 3-carbon chain.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Chloro on C1; methyl on C2.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3 + 1 = 4 C; open-chain alkane → C₄H₁₀; one H is replaced by Cl → C₄H₉Cl.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04712" y="6390894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C₄H₉Cl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CₙH₂ₙ₊₂ = C₄H₁₀; minus one H for Cl = C₄H₉Cl.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523105" y="6390894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1-chloro-2-methylpropane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45983"/>
            <a:chOff x="0" y="0"/>
            <a:chExt cx="10634396" cy="4594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94510"/>
            </a:xfrm>
            <a:custGeom>
              <a:avLst/>
              <a:gdLst/>
              <a:ahLst/>
              <a:cxnLst/>
              <a:rect l="l" t="t" r="r" b="b"/>
              <a:pathLst>
                <a:path w="10634345" h="4594510">
                  <a:moveTo>
                    <a:pt x="0" y="765752"/>
                  </a:moveTo>
                  <a:cubicBezTo>
                    <a:pt x="0" y="342937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2937"/>
                    <a:pt x="10634345" y="765752"/>
                  </a:cubicBezTo>
                  <a:lnTo>
                    <a:pt x="10634345" y="3828758"/>
                  </a:lnTo>
                  <a:cubicBezTo>
                    <a:pt x="10634345" y="4251765"/>
                    <a:pt x="10407523" y="4594509"/>
                    <a:pt x="10127869" y="4594509"/>
                  </a:cubicBezTo>
                  <a:lnTo>
                    <a:pt x="506476" y="4594509"/>
                  </a:lnTo>
                  <a:cubicBezTo>
                    <a:pt x="226822" y="4594682"/>
                    <a:pt x="0" y="4251765"/>
                    <a:pt x="0" y="38287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22" y="5414905"/>
            <a:ext cx="7975797" cy="2828277"/>
            <a:chOff x="0" y="0"/>
            <a:chExt cx="10634396" cy="37710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771125"/>
            </a:xfrm>
            <a:custGeom>
              <a:avLst/>
              <a:gdLst/>
              <a:ahLst/>
              <a:cxnLst/>
              <a:rect l="l" t="t" r="r" b="b"/>
              <a:pathLst>
                <a:path w="10634472" h="3771125">
                  <a:moveTo>
                    <a:pt x="0" y="628593"/>
                  </a:moveTo>
                  <a:cubicBezTo>
                    <a:pt x="0" y="281405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81405"/>
                    <a:pt x="10634472" y="628593"/>
                  </a:cubicBezTo>
                  <a:lnTo>
                    <a:pt x="10634472" y="3142579"/>
                  </a:lnTo>
                  <a:cubicBezTo>
                    <a:pt x="10634472" y="3489766"/>
                    <a:pt x="10448671" y="3771125"/>
                    <a:pt x="10219436" y="3771125"/>
                  </a:cubicBezTo>
                  <a:lnTo>
                    <a:pt x="415036" y="3771125"/>
                  </a:lnTo>
                  <a:cubicBezTo>
                    <a:pt x="185801" y="3770979"/>
                    <a:pt x="0" y="3489574"/>
                    <a:pt x="0" y="3142579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705062" y="2248395"/>
            <a:ext cx="2915836" cy="2274983"/>
            <a:chOff x="0" y="0"/>
            <a:chExt cx="2270130" cy="17711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1771193"/>
            </a:xfrm>
            <a:custGeom>
              <a:avLst/>
              <a:gdLst/>
              <a:ahLst/>
              <a:cxnLst/>
              <a:rect l="l" t="t" r="r" b="b"/>
              <a:pathLst>
                <a:path w="2270130" h="1771193">
                  <a:moveTo>
                    <a:pt x="0" y="0"/>
                  </a:moveTo>
                  <a:lnTo>
                    <a:pt x="2270130" y="0"/>
                  </a:lnTo>
                  <a:lnTo>
                    <a:pt x="2270130" y="1771193"/>
                  </a:lnTo>
                  <a:lnTo>
                    <a:pt x="0" y="1771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264" r="-226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3050691" y="2986583"/>
            <a:ext cx="4153536" cy="681860"/>
            <a:chOff x="0" y="0"/>
            <a:chExt cx="6885202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85201" cy="1130300"/>
            </a:xfrm>
            <a:custGeom>
              <a:avLst/>
              <a:gdLst/>
              <a:ahLst/>
              <a:cxnLst/>
              <a:rect l="l" t="t" r="r" b="b"/>
              <a:pathLst>
                <a:path w="6885201" h="1130300">
                  <a:moveTo>
                    <a:pt x="0" y="0"/>
                  </a:moveTo>
                  <a:lnTo>
                    <a:pt x="6885201" y="0"/>
                  </a:lnTo>
                  <a:lnTo>
                    <a:pt x="6885201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88" b="-9188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B06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87009" y="704602"/>
            <a:ext cx="548253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GIVEN NAME: 1,2-dimethylcyclopentane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2317" y="556805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8342" y="564605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52317" y="2248395"/>
            <a:ext cx="7284453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Cyclopentane → a 5-carbon ring.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Methyl on C1 and methyl on C2.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5 + 1 + 1 = 7 C; one ring → C₇H₁₄.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34675" y="6181344"/>
            <a:ext cx="7284453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C₇H₁₄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One ring: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 = C₇H₁₄.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329523" y="6295644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1,2-dimethylcyclopentane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92857"/>
            <a:chOff x="0" y="0"/>
            <a:chExt cx="10634396" cy="46571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657007"/>
            </a:xfrm>
            <a:custGeom>
              <a:avLst/>
              <a:gdLst/>
              <a:ahLst/>
              <a:cxnLst/>
              <a:rect l="l" t="t" r="r" b="b"/>
              <a:pathLst>
                <a:path w="10634345" h="4657007">
                  <a:moveTo>
                    <a:pt x="0" y="776168"/>
                  </a:moveTo>
                  <a:cubicBezTo>
                    <a:pt x="0" y="347602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7602"/>
                    <a:pt x="10634345" y="776168"/>
                  </a:cubicBezTo>
                  <a:lnTo>
                    <a:pt x="10634345" y="3880839"/>
                  </a:lnTo>
                  <a:cubicBezTo>
                    <a:pt x="10634345" y="4309599"/>
                    <a:pt x="10407523" y="4657006"/>
                    <a:pt x="10127869" y="4657006"/>
                  </a:cubicBezTo>
                  <a:lnTo>
                    <a:pt x="506476" y="4657006"/>
                  </a:lnTo>
                  <a:cubicBezTo>
                    <a:pt x="226822" y="4657181"/>
                    <a:pt x="0" y="4309599"/>
                    <a:pt x="0" y="3880839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414905"/>
            <a:ext cx="7975797" cy="2817217"/>
            <a:chOff x="0" y="0"/>
            <a:chExt cx="10634396" cy="37562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756378"/>
            </a:xfrm>
            <a:custGeom>
              <a:avLst/>
              <a:gdLst/>
              <a:ahLst/>
              <a:cxnLst/>
              <a:rect l="l" t="t" r="r" b="b"/>
              <a:pathLst>
                <a:path w="10634472" h="3756378">
                  <a:moveTo>
                    <a:pt x="0" y="626134"/>
                  </a:moveTo>
                  <a:cubicBezTo>
                    <a:pt x="0" y="280304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80304"/>
                    <a:pt x="10634472" y="626134"/>
                  </a:cubicBezTo>
                  <a:lnTo>
                    <a:pt x="10634472" y="3130289"/>
                  </a:lnTo>
                  <a:cubicBezTo>
                    <a:pt x="10634472" y="3476118"/>
                    <a:pt x="10448671" y="3756378"/>
                    <a:pt x="10219436" y="3756378"/>
                  </a:cubicBezTo>
                  <a:lnTo>
                    <a:pt x="415036" y="3756378"/>
                  </a:lnTo>
                  <a:cubicBezTo>
                    <a:pt x="185801" y="3756232"/>
                    <a:pt x="0" y="3475927"/>
                    <a:pt x="0" y="3130289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503167" y="2381795"/>
            <a:ext cx="3468583" cy="2090128"/>
            <a:chOff x="0" y="0"/>
            <a:chExt cx="2270130" cy="13679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1367954"/>
            </a:xfrm>
            <a:custGeom>
              <a:avLst/>
              <a:gdLst/>
              <a:ahLst/>
              <a:cxnLst/>
              <a:rect l="l" t="t" r="r" b="b"/>
              <a:pathLst>
                <a:path w="2270130" h="1367954">
                  <a:moveTo>
                    <a:pt x="0" y="0"/>
                  </a:moveTo>
                  <a:lnTo>
                    <a:pt x="2270130" y="0"/>
                  </a:lnTo>
                  <a:lnTo>
                    <a:pt x="2270130" y="1367954"/>
                  </a:lnTo>
                  <a:lnTo>
                    <a:pt x="0" y="1367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3182" b="-318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3386289" y="3162852"/>
            <a:ext cx="3817937" cy="547516"/>
            <a:chOff x="0" y="0"/>
            <a:chExt cx="7881812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81812" cy="1130300"/>
            </a:xfrm>
            <a:custGeom>
              <a:avLst/>
              <a:gdLst/>
              <a:ahLst/>
              <a:cxnLst/>
              <a:rect l="l" t="t" r="r" b="b"/>
              <a:pathLst>
                <a:path w="7881812" h="1130300">
                  <a:moveTo>
                    <a:pt x="0" y="0"/>
                  </a:moveTo>
                  <a:lnTo>
                    <a:pt x="7881812" y="0"/>
                  </a:lnTo>
                  <a:lnTo>
                    <a:pt x="7881812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1" r="-37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B07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87071" y="704602"/>
            <a:ext cx="5682407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DEVELOPING  •  GIVEN NAME: 4-ethyl-3,3-dimethylheptane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2312" y="556805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8342" y="564605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93489" y="2248395"/>
            <a:ext cx="7284453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Heptane → a 7-carbon chain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.</a:t>
            </a:r>
            <a:endParaRPr lang="en-US" sz="195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Ethyl on C4; two methyl groups on C3.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7 + 2 + 1 + 1 = 11 C; open-chain alkane → C₁₁H₂₄.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46043" y="6173923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C₁₁H₂₄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CₙH₂ₙ₊₂ = C₁₁H₂₄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288342" y="6364423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4-ethyl-3,3-dimethylheptane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45983"/>
            <a:chOff x="0" y="0"/>
            <a:chExt cx="10634396" cy="4594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94510"/>
            </a:xfrm>
            <a:custGeom>
              <a:avLst/>
              <a:gdLst/>
              <a:ahLst/>
              <a:cxnLst/>
              <a:rect l="l" t="t" r="r" b="b"/>
              <a:pathLst>
                <a:path w="10634345" h="4594510">
                  <a:moveTo>
                    <a:pt x="0" y="765752"/>
                  </a:moveTo>
                  <a:cubicBezTo>
                    <a:pt x="0" y="342937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2937"/>
                    <a:pt x="10634345" y="765752"/>
                  </a:cubicBezTo>
                  <a:lnTo>
                    <a:pt x="10634345" y="3828758"/>
                  </a:lnTo>
                  <a:cubicBezTo>
                    <a:pt x="10634345" y="4251765"/>
                    <a:pt x="10407523" y="4594509"/>
                    <a:pt x="10127869" y="4594509"/>
                  </a:cubicBezTo>
                  <a:lnTo>
                    <a:pt x="506476" y="4594509"/>
                  </a:lnTo>
                  <a:cubicBezTo>
                    <a:pt x="226822" y="4594682"/>
                    <a:pt x="0" y="4251765"/>
                    <a:pt x="0" y="38287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469884"/>
            <a:ext cx="7975797" cy="2773299"/>
            <a:chOff x="0" y="0"/>
            <a:chExt cx="10634396" cy="36977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697821"/>
            </a:xfrm>
            <a:custGeom>
              <a:avLst/>
              <a:gdLst/>
              <a:ahLst/>
              <a:cxnLst/>
              <a:rect l="l" t="t" r="r" b="b"/>
              <a:pathLst>
                <a:path w="10634472" h="3697821">
                  <a:moveTo>
                    <a:pt x="0" y="616374"/>
                  </a:moveTo>
                  <a:cubicBezTo>
                    <a:pt x="0" y="275935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75935"/>
                    <a:pt x="10634472" y="616374"/>
                  </a:cubicBezTo>
                  <a:lnTo>
                    <a:pt x="10634472" y="3081491"/>
                  </a:lnTo>
                  <a:cubicBezTo>
                    <a:pt x="10634472" y="3421929"/>
                    <a:pt x="10448671" y="3697821"/>
                    <a:pt x="10219436" y="3697821"/>
                  </a:cubicBezTo>
                  <a:lnTo>
                    <a:pt x="415036" y="3697821"/>
                  </a:lnTo>
                  <a:cubicBezTo>
                    <a:pt x="185801" y="3697675"/>
                    <a:pt x="0" y="3421741"/>
                    <a:pt x="0" y="3081491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444963" y="2143377"/>
            <a:ext cx="4379113" cy="2302079"/>
            <a:chOff x="0" y="0"/>
            <a:chExt cx="2150105" cy="1130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0105" cy="1130300"/>
            </a:xfrm>
            <a:custGeom>
              <a:avLst/>
              <a:gdLst/>
              <a:ahLst/>
              <a:cxnLst/>
              <a:rect l="l" t="t" r="r" b="b"/>
              <a:pathLst>
                <a:path w="2150105" h="1130300">
                  <a:moveTo>
                    <a:pt x="0" y="0"/>
                  </a:moveTo>
                  <a:lnTo>
                    <a:pt x="2150105" y="0"/>
                  </a:lnTo>
                  <a:lnTo>
                    <a:pt x="2150105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3249" b="-1324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3917270" y="3070435"/>
            <a:ext cx="3342030" cy="447962"/>
            <a:chOff x="0" y="0"/>
            <a:chExt cx="8432617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32617" cy="1130300"/>
            </a:xfrm>
            <a:custGeom>
              <a:avLst/>
              <a:gdLst/>
              <a:ahLst/>
              <a:cxnLst/>
              <a:rect l="l" t="t" r="r" b="b"/>
              <a:pathLst>
                <a:path w="8432617" h="1130300">
                  <a:moveTo>
                    <a:pt x="0" y="0"/>
                  </a:moveTo>
                  <a:lnTo>
                    <a:pt x="8432617" y="0"/>
                  </a:lnTo>
                  <a:lnTo>
                    <a:pt x="8432617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3" r="-79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B08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08837" y="704602"/>
            <a:ext cx="5038874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CHALLENGE  •  GIVEN NAME: tert-butylcyclohexane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2312" y="5623036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8342" y="565869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45889" y="2400795"/>
            <a:ext cx="7284453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Cyclohexane → a 6-carbon ring.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One tert-butyl group attached to the ring. The tert-butyl group contains 4 carbon atoms.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6 + 4 = 10 C; one ring → C₁₀H₂₀.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98443" y="6326323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C₁₀H₂₀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 = C₁₀H₂₀.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288342" y="6295644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tert-butylcyclohexane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445983"/>
            <a:chOff x="0" y="0"/>
            <a:chExt cx="10634396" cy="4594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94510"/>
            </a:xfrm>
            <a:custGeom>
              <a:avLst/>
              <a:gdLst/>
              <a:ahLst/>
              <a:cxnLst/>
              <a:rect l="l" t="t" r="r" b="b"/>
              <a:pathLst>
                <a:path w="10634345" h="4594510">
                  <a:moveTo>
                    <a:pt x="0" y="765752"/>
                  </a:moveTo>
                  <a:cubicBezTo>
                    <a:pt x="0" y="342937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42937"/>
                    <a:pt x="10634345" y="765752"/>
                  </a:cubicBezTo>
                  <a:lnTo>
                    <a:pt x="10634345" y="3828758"/>
                  </a:lnTo>
                  <a:cubicBezTo>
                    <a:pt x="10634345" y="4251765"/>
                    <a:pt x="10407523" y="4594509"/>
                    <a:pt x="10127869" y="4594509"/>
                  </a:cubicBezTo>
                  <a:lnTo>
                    <a:pt x="506476" y="4594509"/>
                  </a:lnTo>
                  <a:cubicBezTo>
                    <a:pt x="226822" y="4594682"/>
                    <a:pt x="0" y="4251765"/>
                    <a:pt x="0" y="382875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469884"/>
            <a:ext cx="7975797" cy="2738066"/>
            <a:chOff x="0" y="0"/>
            <a:chExt cx="10634396" cy="36507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650843"/>
            </a:xfrm>
            <a:custGeom>
              <a:avLst/>
              <a:gdLst/>
              <a:ahLst/>
              <a:cxnLst/>
              <a:rect l="l" t="t" r="r" b="b"/>
              <a:pathLst>
                <a:path w="10634472" h="3650843">
                  <a:moveTo>
                    <a:pt x="0" y="608543"/>
                  </a:moveTo>
                  <a:cubicBezTo>
                    <a:pt x="0" y="272429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72429"/>
                    <a:pt x="10634472" y="608543"/>
                  </a:cubicBezTo>
                  <a:lnTo>
                    <a:pt x="10634472" y="3042342"/>
                  </a:lnTo>
                  <a:cubicBezTo>
                    <a:pt x="10634472" y="3378455"/>
                    <a:pt x="10448671" y="3650843"/>
                    <a:pt x="10219436" y="3650843"/>
                  </a:cubicBezTo>
                  <a:lnTo>
                    <a:pt x="415036" y="3650843"/>
                  </a:lnTo>
                  <a:cubicBezTo>
                    <a:pt x="185801" y="3650698"/>
                    <a:pt x="0" y="3378269"/>
                    <a:pt x="0" y="3042342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823558" y="2134152"/>
            <a:ext cx="2848554" cy="2515887"/>
            <a:chOff x="0" y="0"/>
            <a:chExt cx="2270130" cy="20050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2005014"/>
            </a:xfrm>
            <a:custGeom>
              <a:avLst/>
              <a:gdLst/>
              <a:ahLst/>
              <a:cxnLst/>
              <a:rect l="l" t="t" r="r" b="b"/>
              <a:pathLst>
                <a:path w="2270130" h="2005014">
                  <a:moveTo>
                    <a:pt x="0" y="0"/>
                  </a:moveTo>
                  <a:lnTo>
                    <a:pt x="2270130" y="0"/>
                  </a:lnTo>
                  <a:lnTo>
                    <a:pt x="2270130" y="2005014"/>
                  </a:lnTo>
                  <a:lnTo>
                    <a:pt x="0" y="20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057" b="-105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2951956" y="2936042"/>
            <a:ext cx="4307344" cy="668409"/>
            <a:chOff x="0" y="0"/>
            <a:chExt cx="7283846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83846" cy="1130300"/>
            </a:xfrm>
            <a:custGeom>
              <a:avLst/>
              <a:gdLst/>
              <a:ahLst/>
              <a:cxnLst/>
              <a:rect l="l" t="t" r="r" b="b"/>
              <a:pathLst>
                <a:path w="7283846" h="1130300">
                  <a:moveTo>
                    <a:pt x="0" y="0"/>
                  </a:moveTo>
                  <a:lnTo>
                    <a:pt x="7283846" y="0"/>
                  </a:lnTo>
                  <a:lnTo>
                    <a:pt x="7283846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03" r="-140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B09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37499" y="704602"/>
            <a:ext cx="5981551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5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CHALLENGE  •  GIVEN NAME: 3-ethyl-1,1-dimethylcyclohexane</a:t>
            </a:r>
            <a:endParaRPr lang="en-US" sz="15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2312" y="5623036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8342" y="5780208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34675" y="2364734"/>
            <a:ext cx="7284453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Cyclohexane → a 6-carbon ring.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Two methyl groups on C1; ethyl on C3.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6 + 1 + 1 + 2 = 10 C; one ring → C₁₀H₂₀.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34675" y="6248366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C₁₀H₂₀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 = C₁₀H₂₀.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440742" y="6448044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3-ethyl-1,1-dimethylcyclohexane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747817" y="1571425"/>
            <a:ext cx="7975797" cy="3384109"/>
            <a:chOff x="0" y="0"/>
            <a:chExt cx="10634396" cy="45121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4345" cy="4512013"/>
            </a:xfrm>
            <a:custGeom>
              <a:avLst/>
              <a:gdLst/>
              <a:ahLst/>
              <a:cxnLst/>
              <a:rect l="l" t="t" r="r" b="b"/>
              <a:pathLst>
                <a:path w="10634345" h="4512013">
                  <a:moveTo>
                    <a:pt x="0" y="752002"/>
                  </a:moveTo>
                  <a:cubicBezTo>
                    <a:pt x="0" y="336779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336779"/>
                    <a:pt x="10634345" y="752002"/>
                  </a:cubicBezTo>
                  <a:lnTo>
                    <a:pt x="10634345" y="3760011"/>
                  </a:lnTo>
                  <a:cubicBezTo>
                    <a:pt x="10634345" y="4175422"/>
                    <a:pt x="10407523" y="4512013"/>
                    <a:pt x="10127869" y="4512013"/>
                  </a:cubicBezTo>
                  <a:lnTo>
                    <a:pt x="506476" y="4512013"/>
                  </a:lnTo>
                  <a:cubicBezTo>
                    <a:pt x="226822" y="4512183"/>
                    <a:pt x="0" y="4175422"/>
                    <a:pt x="0" y="3760011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983856" y="1571425"/>
            <a:ext cx="8524865" cy="3445983"/>
            <a:chOff x="0" y="0"/>
            <a:chExt cx="11366487" cy="4594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6500" cy="4594606"/>
            </a:xfrm>
            <a:custGeom>
              <a:avLst/>
              <a:gdLst/>
              <a:ahLst/>
              <a:cxnLst/>
              <a:rect l="l" t="t" r="r" b="b"/>
              <a:pathLst>
                <a:path w="11366500" h="4594606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10600690" y="0"/>
                  </a:lnTo>
                  <a:cubicBezTo>
                    <a:pt x="11023600" y="0"/>
                    <a:pt x="11366500" y="342900"/>
                    <a:pt x="11366500" y="765810"/>
                  </a:cubicBezTo>
                  <a:lnTo>
                    <a:pt x="11366500" y="3828796"/>
                  </a:lnTo>
                  <a:cubicBezTo>
                    <a:pt x="11366500" y="4251706"/>
                    <a:pt x="11023600" y="4594606"/>
                    <a:pt x="10600690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47817" y="5469884"/>
            <a:ext cx="7975797" cy="2773299"/>
            <a:chOff x="0" y="0"/>
            <a:chExt cx="10634396" cy="36977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472" cy="3697821"/>
            </a:xfrm>
            <a:custGeom>
              <a:avLst/>
              <a:gdLst/>
              <a:ahLst/>
              <a:cxnLst/>
              <a:rect l="l" t="t" r="r" b="b"/>
              <a:pathLst>
                <a:path w="10634472" h="3697821">
                  <a:moveTo>
                    <a:pt x="0" y="616374"/>
                  </a:moveTo>
                  <a:cubicBezTo>
                    <a:pt x="0" y="275935"/>
                    <a:pt x="185801" y="0"/>
                    <a:pt x="415036" y="0"/>
                  </a:cubicBezTo>
                  <a:lnTo>
                    <a:pt x="10219436" y="0"/>
                  </a:lnTo>
                  <a:cubicBezTo>
                    <a:pt x="10448671" y="0"/>
                    <a:pt x="10634472" y="275935"/>
                    <a:pt x="10634472" y="616374"/>
                  </a:cubicBezTo>
                  <a:lnTo>
                    <a:pt x="10634472" y="3081491"/>
                  </a:lnTo>
                  <a:cubicBezTo>
                    <a:pt x="10634472" y="3421929"/>
                    <a:pt x="10448671" y="3697821"/>
                    <a:pt x="10219436" y="3697821"/>
                  </a:cubicBezTo>
                  <a:lnTo>
                    <a:pt x="415036" y="3697821"/>
                  </a:lnTo>
                  <a:cubicBezTo>
                    <a:pt x="185801" y="3697675"/>
                    <a:pt x="0" y="3421741"/>
                    <a:pt x="0" y="3081491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8983856" y="5414905"/>
            <a:ext cx="8524865" cy="2828277"/>
            <a:chOff x="0" y="0"/>
            <a:chExt cx="11366487" cy="37710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6500" cy="3771011"/>
            </a:xfrm>
            <a:custGeom>
              <a:avLst/>
              <a:gdLst/>
              <a:ahLst/>
              <a:cxnLst/>
              <a:rect l="l" t="t" r="r" b="b"/>
              <a:pathLst>
                <a:path w="11366500" h="3771011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0737977" y="0"/>
                  </a:lnTo>
                  <a:cubicBezTo>
                    <a:pt x="11085068" y="0"/>
                    <a:pt x="11366500" y="281432"/>
                    <a:pt x="11366500" y="628523"/>
                  </a:cubicBezTo>
                  <a:lnTo>
                    <a:pt x="11366500" y="3142488"/>
                  </a:lnTo>
                  <a:cubicBezTo>
                    <a:pt x="11366500" y="3489579"/>
                    <a:pt x="11085068" y="3771011"/>
                    <a:pt x="10737977" y="3771011"/>
                  </a:cubicBezTo>
                  <a:lnTo>
                    <a:pt x="628523" y="3771011"/>
                  </a:lnTo>
                  <a:cubicBezTo>
                    <a:pt x="281432" y="3771011"/>
                    <a:pt x="0" y="3489579"/>
                    <a:pt x="0" y="3142488"/>
                  </a:cubicBezTo>
                  <a:close/>
                </a:path>
              </a:pathLst>
            </a:custGeom>
            <a:solidFill>
              <a:srgbClr val="EDF3FA"/>
            </a:solidFill>
            <a:ln w="14299" cap="sq">
              <a:solidFill>
                <a:srgbClr val="D2DC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9763859" y="2397193"/>
            <a:ext cx="3906375" cy="1944988"/>
            <a:chOff x="0" y="0"/>
            <a:chExt cx="2270130" cy="1130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130" cy="1130300"/>
            </a:xfrm>
            <a:custGeom>
              <a:avLst/>
              <a:gdLst/>
              <a:ahLst/>
              <a:cxnLst/>
              <a:rect l="l" t="t" r="r" b="b"/>
              <a:pathLst>
                <a:path w="2270130" h="1130300">
                  <a:moveTo>
                    <a:pt x="0" y="0"/>
                  </a:moveTo>
                  <a:lnTo>
                    <a:pt x="2270130" y="0"/>
                  </a:lnTo>
                  <a:lnTo>
                    <a:pt x="227013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971" b="-97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4114764" y="3075126"/>
            <a:ext cx="2869394" cy="589121"/>
            <a:chOff x="0" y="0"/>
            <a:chExt cx="5505280" cy="113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05280" cy="1130300"/>
            </a:xfrm>
            <a:custGeom>
              <a:avLst/>
              <a:gdLst/>
              <a:ahLst/>
              <a:cxnLst/>
              <a:rect l="l" t="t" r="r" b="b"/>
              <a:pathLst>
                <a:path w="5505280" h="1130300">
                  <a:moveTo>
                    <a:pt x="0" y="0"/>
                  </a:moveTo>
                  <a:lnTo>
                    <a:pt x="5505280" y="0"/>
                  </a:lnTo>
                  <a:lnTo>
                    <a:pt x="550528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634" b="-11634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B10 — NAME → STRUCTURE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3244" y="695077"/>
            <a:ext cx="17250061" cy="192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LEVEL: CHALLENGE  •  GIVEN NAME: 2-ethylbutane (deliberately incorrect)</a:t>
            </a:r>
            <a:endParaRPr lang="en-US" sz="13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2312" y="1724577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NAME DECODED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88342" y="1724577"/>
            <a:ext cx="79158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BOND-LINE STRUCTURE 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2312" y="5623036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FORMULA 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5048" y="8762190"/>
            <a:ext cx="162891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Verification: ☑ parent length ☑ substituent positions ☑ formula agrees ☑ back-check recorded</a:t>
            </a:r>
            <a:endParaRPr lang="en-US" sz="18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8342" y="5664146"/>
            <a:ext cx="73668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BACK-CHECK</a:t>
            </a:r>
            <a:endParaRPr lang="en-US" sz="1700" b="1">
              <a:solidFill>
                <a:srgbClr val="123C6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34675" y="2397193"/>
            <a:ext cx="7284453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Parent: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Butane → a 4-carbon chain.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Substituents: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Ethyl on C2.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Expected formula: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4 + 2 = 6 C; open-chain alkane → C₆H₁₄.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34675" y="6181344"/>
            <a:ext cx="728445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Coun</a:t>
            </a: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ted from the drawing: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C₆H₁₄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Open-chain alkane: </a:t>
            </a:r>
            <a:r>
              <a:rPr lang="en-US" sz="195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CₙH₂ₙ₊₂ = C₆H₁₄.</a:t>
            </a:r>
            <a:endParaRPr lang="en-US" sz="195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34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9370705" y="6181344"/>
            <a:ext cx="728445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Returned by The Alkane: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3-methylpentane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23C6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✓ Check:</a:t>
            </a:r>
            <a:r>
              <a:rPr lang="en-US" sz="1800">
                <a:solidFill>
                  <a:srgbClr val="232B34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Same as given name.</a:t>
            </a:r>
            <a:endParaRPr lang="en-US" sz="1800">
              <a:solidFill>
                <a:srgbClr val="232B34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500759"/>
            </a:xfrm>
            <a:custGeom>
              <a:avLst/>
              <a:gdLst/>
              <a:ahLst/>
              <a:cxnLst/>
              <a:rect l="l" t="t" r="r" b="b"/>
              <a:pathLst>
                <a:path w="24402414" h="1500759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23C6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03244" y="210445"/>
            <a:ext cx="17250061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8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PRE-SUBMISSION CHECKLIST</a:t>
            </a:r>
            <a:endParaRPr lang="en-US" sz="2850" b="1">
              <a:solidFill>
                <a:srgbClr val="FFFFFF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03244" y="695077"/>
            <a:ext cx="17250061" cy="192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Complete these checks before exporting the final portfolio PDF.</a:t>
            </a:r>
            <a:endParaRPr lang="en-US" sz="1350">
              <a:solidFill>
                <a:srgbClr val="FFFFFF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028700" y="1839897"/>
            <a:ext cx="15877384" cy="6491354"/>
            <a:chOff x="0" y="0"/>
            <a:chExt cx="21169846" cy="8655139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20 cards completed in order: A01–A10, then B01–B10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67486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Part A names written before checking in The Alkane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782610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Part A structures copied from the provided image pack and parent carbons numbered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697721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All Part B structures built and checked in The Alkane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612832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B10 drawn exactly as written, then corrected name and broken rule recorded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527956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20 cropped The Alkane screenshots saved using card-code filenames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443068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Names use correct commas and hyphens with no spaces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358179"/>
              <a:ext cx="21169846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AI disclosure lists The Alkane and any AI tool used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118820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Editable PPTX retained and one complete PDF exported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8033944"/>
              <a:ext cx="21169846" cy="62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2B34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□ Public GitHub repository verified; link submitted through Google Classroom</a:t>
              </a:r>
              <a:endParaRPr lang="en-US" sz="2100">
                <a:solidFill>
                  <a:srgbClr val="232B34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11800</Words>
  <Application>WPS Presentation</Application>
  <PresentationFormat>On-screen Show (4:3)</PresentationFormat>
  <Paragraphs>730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Aptos Bold</vt:lpstr>
      <vt:lpstr>Aptos</vt:lpstr>
      <vt:lpstr>Microsoft YaHei</vt:lpstr>
      <vt:lpstr>Arial Unicode MS</vt:lpstr>
      <vt:lpstr>Calibri</vt:lpstr>
      <vt:lpstr>Calibri (MS)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003_name_it_draw_it_portfolio_draft (1).pptx</dc:title>
  <dc:creator/>
  <cp:lastModifiedBy>Jose Steven Aloba</cp:lastModifiedBy>
  <cp:revision>3</cp:revision>
  <dcterms:created xsi:type="dcterms:W3CDTF">2006-08-16T00:00:00Z</dcterms:created>
  <dcterms:modified xsi:type="dcterms:W3CDTF">2026-10-14T04:08:29Z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6077211D1A84485D8025288D43C12D78_13</vt:lpwstr>
  </property>
  <property fmtid="{D5CDD505-2E9C-101B-9397-08002B2CF9AE}" pid="3" name="KSOProductBuildVer">
    <vt:lpwstr>1033-12.1.0.29162</vt:lpwstr>
  </property>
</Properties>
</file>